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59" d="100"/>
          <a:sy n="59" d="100"/>
        </p:scale>
        <p:origin x="94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6" name=""/>
        <p:cNvGrpSpPr/>
        <p:nvPr/>
      </p:nvGrpSpPr>
      <p:grpSpPr>
        <a:xfrm>
          <a:off x="0" y="0"/>
          <a:ext cx="0" cy="0"/>
          <a:chOff x="0" y="0"/>
          <a:chExt cx="0" cy="0"/>
        </a:xfrm>
      </p:grpSpPr>
      <p:sp>
        <p:nvSpPr>
          <p:cNvPr id="1048703" name="Header Placeholder 1"/>
          <p:cNvSpPr>
            <a:spLocks noGrp="1"/>
          </p:cNvSpPr>
          <p:nvPr>
            <p:ph type="hdr" sz="quarter"/>
          </p:nvPr>
        </p:nvSpPr>
        <p:spPr>
          <a:xfrm>
            <a:off x="0" y="0"/>
            <a:ext cx="5283200" cy="344488"/>
          </a:xfrm>
          <a:prstGeom prst="rect"/>
        </p:spPr>
        <p:txBody>
          <a:bodyPr bIns="45720" lIns="91440" rIns="91440" rtlCol="0" tIns="45720" vert="horz"/>
          <a:lstStyle>
            <a:lvl1pPr algn="l">
              <a:defRPr sz="1200"/>
            </a:lvl1pPr>
          </a:lstStyle>
          <a:p>
            <a:endParaRPr lang="en-IN"/>
          </a:p>
        </p:txBody>
      </p:sp>
      <p:sp>
        <p:nvSpPr>
          <p:cNvPr id="1048704" name="Date Placeholder 2"/>
          <p:cNvSpPr>
            <a:spLocks noGrp="1"/>
          </p:cNvSpPr>
          <p:nvPr>
            <p:ph type="dt" idx="1"/>
          </p:nvPr>
        </p:nvSpPr>
        <p:spPr>
          <a:xfrm>
            <a:off x="6905625" y="0"/>
            <a:ext cx="5283200" cy="344488"/>
          </a:xfrm>
          <a:prstGeom prst="rect"/>
        </p:spPr>
        <p:txBody>
          <a:bodyPr bIns="45720" lIns="91440" rIns="91440" rtlCol="0" tIns="45720" vert="horz"/>
          <a:lstStyle>
            <a:lvl1pPr algn="r">
              <a:defRPr sz="1200"/>
            </a:lvl1pPr>
          </a:lstStyle>
          <a:p>
            <a:fld id="{84B86612-B127-4CD0-BF15-66D49A7175F7}" type="datetimeFigureOut">
              <a:rPr lang="en-IN" smtClean="0"/>
              <a:t>20-08-2024</a:t>
            </a:fld>
            <a:endParaRPr lang="en-IN"/>
          </a:p>
        </p:txBody>
      </p:sp>
      <p:sp>
        <p:nvSpPr>
          <p:cNvPr id="1048705" name="Slide Image Placeholder 3"/>
          <p:cNvSpPr>
            <a:spLocks noChangeAspect="1" noRot="1" noGrp="1"/>
          </p:cNvSpPr>
          <p:nvPr>
            <p:ph type="sldImg" idx="2"/>
          </p:nvPr>
        </p:nvSpPr>
        <p:spPr>
          <a:xfrm>
            <a:off x="4038600" y="857250"/>
            <a:ext cx="4114800" cy="2314575"/>
          </a:xfrm>
          <a:prstGeom prst="rect"/>
          <a:noFill/>
          <a:ln w="12700">
            <a:solidFill>
              <a:prstClr val="black"/>
            </a:solidFill>
          </a:ln>
        </p:spPr>
        <p:txBody>
          <a:bodyPr anchor="ctr" bIns="45720" lIns="91440" rIns="91440" rtlCol="0" tIns="45720" vert="horz"/>
          <a:p>
            <a:endParaRPr lang="en-IN"/>
          </a:p>
        </p:txBody>
      </p:sp>
      <p:sp>
        <p:nvSpPr>
          <p:cNvPr id="1048706" name="Notes Placeholder 4"/>
          <p:cNvSpPr>
            <a:spLocks noGrp="1"/>
          </p:cNvSpPr>
          <p:nvPr>
            <p:ph type="body" sz="quarter" idx="3"/>
          </p:nvPr>
        </p:nvSpPr>
        <p:spPr>
          <a:xfrm>
            <a:off x="1219200" y="3300413"/>
            <a:ext cx="9753600" cy="2700337"/>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7" name="Footer Placeholder 5"/>
          <p:cNvSpPr>
            <a:spLocks noGrp="1"/>
          </p:cNvSpPr>
          <p:nvPr>
            <p:ph type="ftr" sz="quarter" idx="4"/>
          </p:nvPr>
        </p:nvSpPr>
        <p:spPr>
          <a:xfrm>
            <a:off x="0" y="6513513"/>
            <a:ext cx="5283200" cy="344487"/>
          </a:xfrm>
          <a:prstGeom prst="rect"/>
        </p:spPr>
        <p:txBody>
          <a:bodyPr anchor="b" bIns="45720" lIns="91440" rIns="91440" rtlCol="0" tIns="45720" vert="horz"/>
          <a:lstStyle>
            <a:lvl1pPr algn="l">
              <a:defRPr sz="1200"/>
            </a:lvl1pPr>
          </a:lstStyle>
          <a:p>
            <a:endParaRPr lang="en-IN"/>
          </a:p>
        </p:txBody>
      </p:sp>
      <p:sp>
        <p:nvSpPr>
          <p:cNvPr id="1048708" name="Slide Number Placeholder 6"/>
          <p:cNvSpPr>
            <a:spLocks noGrp="1"/>
          </p:cNvSpPr>
          <p:nvPr>
            <p:ph type="sldNum" sz="quarter" idx="5"/>
          </p:nvPr>
        </p:nvSpPr>
        <p:spPr>
          <a:xfrm>
            <a:off x="6905625" y="6513513"/>
            <a:ext cx="5283200" cy="344487"/>
          </a:xfrm>
          <a:prstGeom prst="rect"/>
        </p:spPr>
        <p:txBody>
          <a:bodyPr anchor="b" bIns="45720" lIns="91440" rIns="91440" rtlCol="0" tIns="45720" vert="horz"/>
          <a:lstStyle>
            <a:lvl1pPr algn="r">
              <a:defRPr sz="1200"/>
            </a:lvl1pPr>
          </a:lstStyle>
          <a:p>
            <a:fld id="{F7F439ED-1E90-4106-847A-8EF19031FE2F}"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33" name="Slide Image Placeholder 1"/>
          <p:cNvSpPr>
            <a:spLocks noChangeAspect="1" noRot="1" noGrp="1"/>
          </p:cNvSpPr>
          <p:nvPr>
            <p:ph type="sldImg"/>
          </p:nvPr>
        </p:nvSpPr>
        <p:spPr/>
      </p:sp>
      <p:sp>
        <p:nvSpPr>
          <p:cNvPr id="1048634" name="Notes Placeholder 2"/>
          <p:cNvSpPr>
            <a:spLocks noGrp="1"/>
          </p:cNvSpPr>
          <p:nvPr>
            <p:ph type="body" idx="1"/>
          </p:nvPr>
        </p:nvSpPr>
        <p:spPr/>
        <p:txBody>
          <a:bodyPr/>
          <a:p>
            <a:endParaRPr dirty="0" lang="en-IN"/>
          </a:p>
        </p:txBody>
      </p:sp>
      <p:sp>
        <p:nvSpPr>
          <p:cNvPr id="1048635" name="Slide Number Placeholder 3"/>
          <p:cNvSpPr>
            <a:spLocks noGrp="1"/>
          </p:cNvSpPr>
          <p:nvPr>
            <p:ph type="sldNum" sz="quarter" idx="5"/>
          </p:nvPr>
        </p:nvSpPr>
        <p:spPr/>
        <p:txBody>
          <a:bodyPr/>
          <a:p>
            <a:fld id="{F7F439ED-1E90-4106-847A-8EF19031FE2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8" name=""/>
        <p:cNvGrpSpPr/>
        <p:nvPr/>
      </p:nvGrpSpPr>
      <p:grpSpPr>
        <a:xfrm>
          <a:off x="0" y="0"/>
          <a:ext cx="0" cy="0"/>
          <a:chOff x="0" y="0"/>
          <a:chExt cx="0" cy="0"/>
        </a:xfrm>
      </p:grpSpPr>
      <p:sp>
        <p:nvSpPr>
          <p:cNvPr id="1048591" name="Holder 2"/>
          <p:cNvSpPr>
            <a:spLocks noGrp="1"/>
          </p:cNvSpPr>
          <p:nvPr>
            <p:ph type="ctrTitle"/>
          </p:nvPr>
        </p:nvSpPr>
        <p:spPr>
          <a:xfrm>
            <a:off x="3195574" y="2067305"/>
            <a:ext cx="5800851" cy="518160"/>
          </a:xfrm>
          <a:prstGeom prst="rect"/>
        </p:spPr>
        <p:txBody>
          <a:bodyPr bIns="0" lIns="0" rIns="0" tIns="0" wrap="square">
            <a:spAutoFit/>
          </a:bodyPr>
          <a:lstStyle>
            <a:lvl1pPr>
              <a:defRPr b="0" sz="3200" i="0">
                <a:solidFill>
                  <a:schemeClr val="tx1"/>
                </a:solidFill>
                <a:latin typeface="Trebuchet MS"/>
                <a:cs typeface="Trebuchet MS"/>
              </a:defRPr>
            </a:lvl1pPr>
          </a:lstStyle>
          <a:p/>
        </p:txBody>
      </p:sp>
      <p:sp>
        <p:nvSpPr>
          <p:cNvPr id="1048592" name="Holder 3"/>
          <p:cNvSpPr>
            <a:spLocks noGrp="1"/>
          </p:cNvSpPr>
          <p:nvPr>
            <p:ph type="subTitle" idx="4"/>
          </p:nvPr>
        </p:nvSpPr>
        <p:spPr>
          <a:xfrm>
            <a:off x="1828800" y="3840480"/>
            <a:ext cx="8534400" cy="1714500"/>
          </a:xfrm>
          <a:prstGeom prst="rect"/>
        </p:spPr>
        <p:txBody>
          <a:bodyPr bIns="0" lIns="0" rIns="0" tIns="0" wrap="square">
            <a:spAutoFit/>
          </a:bodyPr>
          <a:p/>
        </p:txBody>
      </p:sp>
      <p:sp>
        <p:nvSpPr>
          <p:cNvPr id="104859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8/20/2024</a:t>
            </a:fld>
            <a:endParaRPr lang="en-US"/>
          </a:p>
        </p:txBody>
      </p:sp>
      <p:sp>
        <p:nvSpPr>
          <p:cNvPr id="1048595"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3" name=""/>
        <p:cNvGrpSpPr/>
        <p:nvPr/>
      </p:nvGrpSpPr>
      <p:grpSpPr>
        <a:xfrm>
          <a:off x="0" y="0"/>
          <a:ext cx="0" cy="0"/>
          <a:chOff x="0" y="0"/>
          <a:chExt cx="0" cy="0"/>
        </a:xfrm>
      </p:grpSpPr>
      <p:sp>
        <p:nvSpPr>
          <p:cNvPr id="1048689"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90" name="Holder 3"/>
          <p:cNvSpPr>
            <a:spLocks noGrp="1"/>
          </p:cNvSpPr>
          <p:nvPr>
            <p:ph type="body" idx="1"/>
          </p:nvPr>
        </p:nvSpPr>
        <p:spPr/>
        <p:txBody>
          <a:bodyPr bIns="0" lIns="0" rIns="0" tIns="0"/>
          <a:p/>
        </p:txBody>
      </p:sp>
      <p:sp>
        <p:nvSpPr>
          <p:cNvPr id="1048691"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2"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8/20/2024</a:t>
            </a:fld>
            <a:endParaRPr lang="en-US"/>
          </a:p>
        </p:txBody>
      </p:sp>
      <p:sp>
        <p:nvSpPr>
          <p:cNvPr id="1048693"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4" name=""/>
        <p:cNvGrpSpPr/>
        <p:nvPr/>
      </p:nvGrpSpPr>
      <p:grpSpPr>
        <a:xfrm>
          <a:off x="0" y="0"/>
          <a:ext cx="0" cy="0"/>
          <a:chOff x="0" y="0"/>
          <a:chExt cx="0" cy="0"/>
        </a:xfrm>
      </p:grpSpPr>
      <p:sp>
        <p:nvSpPr>
          <p:cNvPr id="1048694"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95" name="Holder 3"/>
          <p:cNvSpPr>
            <a:spLocks noGrp="1"/>
          </p:cNvSpPr>
          <p:nvPr>
            <p:ph sz="half" idx="2"/>
          </p:nvPr>
        </p:nvSpPr>
        <p:spPr>
          <a:xfrm>
            <a:off x="609600" y="1577340"/>
            <a:ext cx="5303520" cy="4526280"/>
          </a:xfrm>
          <a:prstGeom prst="rect"/>
        </p:spPr>
        <p:txBody>
          <a:bodyPr bIns="0" lIns="0" rIns="0" tIns="0" wrap="square">
            <a:spAutoFit/>
          </a:bodyPr>
          <a:p/>
        </p:txBody>
      </p:sp>
      <p:sp>
        <p:nvSpPr>
          <p:cNvPr id="1048696" name="Holder 4"/>
          <p:cNvSpPr>
            <a:spLocks noGrp="1"/>
          </p:cNvSpPr>
          <p:nvPr>
            <p:ph sz="half" idx="3"/>
          </p:nvPr>
        </p:nvSpPr>
        <p:spPr>
          <a:xfrm>
            <a:off x="6278880" y="1577340"/>
            <a:ext cx="5303520" cy="4526280"/>
          </a:xfrm>
          <a:prstGeom prst="rect"/>
        </p:spPr>
        <p:txBody>
          <a:bodyPr bIns="0" lIns="0" rIns="0" tIns="0" wrap="square">
            <a:spAutoFit/>
          </a:bodyPr>
          <a:p/>
        </p:txBody>
      </p:sp>
      <p:sp>
        <p:nvSpPr>
          <p:cNvPr id="1048697"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8"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8/20/2024</a:t>
            </a:fld>
            <a:endParaRPr lang="en-US"/>
          </a:p>
        </p:txBody>
      </p:sp>
      <p:sp>
        <p:nvSpPr>
          <p:cNvPr id="1048699" name="Holder 7"/>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22" name=""/>
        <p:cNvGrpSpPr/>
        <p:nvPr/>
      </p:nvGrpSpPr>
      <p:grpSpPr>
        <a:xfrm>
          <a:off x="0" y="0"/>
          <a:ext cx="0" cy="0"/>
          <a:chOff x="0" y="0"/>
          <a:chExt cx="0" cy="0"/>
        </a:xfrm>
      </p:grpSpPr>
      <p:sp>
        <p:nvSpPr>
          <p:cNvPr id="1048600"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01"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2"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8/20/2024</a:t>
            </a:fld>
            <a:endParaRPr lang="en-US"/>
          </a:p>
        </p:txBody>
      </p:sp>
      <p:sp>
        <p:nvSpPr>
          <p:cNvPr id="1048603" name="Holder 5"/>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5" name=""/>
        <p:cNvGrpSpPr/>
        <p:nvPr/>
      </p:nvGrpSpPr>
      <p:grpSpPr>
        <a:xfrm>
          <a:off x="0" y="0"/>
          <a:ext cx="0" cy="0"/>
          <a:chOff x="0" y="0"/>
          <a:chExt cx="0" cy="0"/>
        </a:xfrm>
      </p:grpSpPr>
      <p:sp>
        <p:nvSpPr>
          <p:cNvPr id="1048700"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701"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8/20/2024</a:t>
            </a:fld>
            <a:endParaRPr lang="en-US"/>
          </a:p>
        </p:txBody>
      </p:sp>
      <p:sp>
        <p:nvSpPr>
          <p:cNvPr id="1048702" name="Holder 4"/>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a:cs typeface="Trebuchet MS"/>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t>8/20/2024</a:t>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grpSp>
        <p:nvGrpSpPr>
          <p:cNvPr id="29" name="object 2"/>
          <p:cNvGrpSpPr/>
          <p:nvPr/>
        </p:nvGrpSpPr>
        <p:grpSpPr>
          <a:xfrm>
            <a:off x="876299" y="990600"/>
            <a:ext cx="1743075" cy="1333500"/>
            <a:chOff x="742950" y="1104900"/>
            <a:chExt cx="1743075" cy="1333500"/>
          </a:xfrm>
        </p:grpSpPr>
        <p:sp>
          <p:nvSpPr>
            <p:cNvPr id="1048626"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627"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628"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629"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30" name="object 7"/>
          <p:cNvSpPr txBox="1">
            <a:spLocks noGrp="1"/>
          </p:cNvSpPr>
          <p:nvPr>
            <p:ph type="ctrTitle"/>
          </p:nvPr>
        </p:nvSpPr>
        <p:spPr>
          <a:xfrm>
            <a:off x="-828675" y="19665"/>
            <a:ext cx="9982200" cy="1001556"/>
          </a:xfrm>
          <a:prstGeom prst="rect"/>
        </p:spPr>
        <p:txBody>
          <a:bodyPr bIns="0" lIns="0" rIns="0" rtlCol="0" tIns="16510" vert="horz" wrap="square">
            <a:spAutoFit/>
          </a:bodyPr>
          <a:p>
            <a:pPr marL="3213735">
              <a:spcBef>
                <a:spcPts val="130"/>
              </a:spcBef>
            </a:pPr>
            <a:r>
              <a:rPr b="1" dirty="0" lang="en-US">
                <a:solidFill>
                  <a:srgbClr val="0F0F0F"/>
                </a:solidFill>
                <a:latin typeface="Times New Roman" panose="02020603050405020304" pitchFamily="18" charset="0"/>
                <a:cs typeface="Times New Roman" panose="02020603050405020304" pitchFamily="18" charset="0"/>
              </a:rPr>
              <a:t>Employee Data Analysis using Excel</a:t>
            </a:r>
            <a:r>
              <a:rPr b="1" dirty="0" i="0" lang="en-US">
                <a:solidFill>
                  <a:srgbClr val="0F0F0F"/>
                </a:solidFill>
                <a:effectLst/>
                <a:latin typeface="Times New Roman" panose="02020603050405020304" pitchFamily="18" charset="0"/>
                <a:cs typeface="Times New Roman" panose="02020603050405020304" pitchFamily="18" charset="0"/>
              </a:rPr>
              <a:t> </a:t>
            </a:r>
            <a:br>
              <a:rPr b="1" dirty="0" i="0" lang="en-US">
                <a:solidFill>
                  <a:srgbClr val="0F0F0F"/>
                </a:solidFill>
                <a:effectLst/>
                <a:latin typeface="Roboto" panose="020F0502020204030204" pitchFamily="2" charset="0"/>
              </a:rPr>
            </a:br>
            <a:endParaRPr dirty="0" spc="15"/>
          </a:p>
        </p:txBody>
      </p:sp>
      <p:pic>
        <p:nvPicPr>
          <p:cNvPr id="2097157"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31" name="object 11"/>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1</a:t>
            </a:fld>
            <a:endParaRPr dirty="0" spc="10"/>
          </a:p>
        </p:txBody>
      </p:sp>
      <p:sp>
        <p:nvSpPr>
          <p:cNvPr id="1048632" name="TextBox 13"/>
          <p:cNvSpPr txBox="1"/>
          <p:nvPr/>
        </p:nvSpPr>
        <p:spPr>
          <a:xfrm>
            <a:off x="1114425" y="2798303"/>
            <a:ext cx="8610600" cy="2313940"/>
          </a:xfrm>
          <a:prstGeom prst="rect"/>
          <a:noFill/>
        </p:spPr>
        <p:txBody>
          <a:bodyPr rtlCol="0" wrap="square">
            <a:spAutoFit/>
          </a:bodyPr>
          <a:p>
            <a:r>
              <a:rPr sz="3600" lang="en-US"/>
              <a:t>STUDENT NAME:</a:t>
            </a:r>
            <a:r>
              <a:rPr sz="3600" lang="en-US"/>
              <a:t> </a:t>
            </a:r>
            <a:r>
              <a:rPr sz="3600" lang="en-US"/>
              <a:t>:</a:t>
            </a:r>
            <a:r>
              <a:rPr sz="3600" lang="en-US"/>
              <a:t> </a:t>
            </a:r>
            <a:r>
              <a:rPr sz="3600" lang="en-US"/>
              <a:t>M</a:t>
            </a:r>
            <a:r>
              <a:rPr sz="3600" lang="en-US"/>
              <a:t>.</a:t>
            </a:r>
            <a:r>
              <a:rPr sz="3600" lang="en-US"/>
              <a:t>P</a:t>
            </a:r>
            <a:r>
              <a:rPr sz="3600" lang="en-US"/>
              <a:t>r</a:t>
            </a:r>
            <a:r>
              <a:rPr sz="3600" lang="en-US"/>
              <a:t>i</a:t>
            </a:r>
            <a:r>
              <a:rPr sz="3600" lang="en-US"/>
              <a:t>y</a:t>
            </a:r>
            <a:r>
              <a:rPr sz="3600" lang="en-US"/>
              <a:t>a</a:t>
            </a:r>
            <a:r>
              <a:rPr sz="3600" lang="en-US"/>
              <a:t>d</a:t>
            </a:r>
            <a:r>
              <a:rPr sz="3600" lang="en-US"/>
              <a:t>h</a:t>
            </a:r>
            <a:r>
              <a:rPr sz="3600" lang="en-US"/>
              <a:t>a</a:t>
            </a:r>
            <a:r>
              <a:rPr sz="3600" lang="en-US"/>
              <a:t>r</a:t>
            </a:r>
            <a:r>
              <a:rPr sz="3600" lang="en-US"/>
              <a:t>s</a:t>
            </a:r>
            <a:r>
              <a:rPr sz="3600" lang="en-US"/>
              <a:t>h</a:t>
            </a:r>
            <a:r>
              <a:rPr sz="3600" lang="en-US"/>
              <a:t>i</a:t>
            </a:r>
            <a:r>
              <a:rPr sz="3600" lang="en-US"/>
              <a:t>n</a:t>
            </a:r>
            <a:r>
              <a:rPr sz="3600" lang="en-US"/>
              <a:t>i</a:t>
            </a:r>
            <a:r>
              <a:rPr sz="3600" lang="en-US"/>
              <a:t> </a:t>
            </a:r>
            <a:endParaRPr dirty="0" sz="4000" lang="en-US"/>
          </a:p>
          <a:p>
            <a:r>
              <a:rPr dirty="0" sz="3600" lang="en-US"/>
              <a:t>REGISTER NO:</a:t>
            </a:r>
            <a:r>
              <a:rPr dirty="0" sz="3600" lang="en-US"/>
              <a:t> </a:t>
            </a:r>
            <a:r>
              <a:rPr dirty="0" sz="3600" lang="en-US"/>
              <a:t>:</a:t>
            </a:r>
            <a:r>
              <a:rPr dirty="0" sz="3600" lang="en-US"/>
              <a:t> </a:t>
            </a:r>
            <a:r>
              <a:rPr dirty="0" sz="3600" lang="en-US"/>
              <a:t>1</a:t>
            </a:r>
            <a:r>
              <a:rPr dirty="0" sz="3600" lang="en-US"/>
              <a:t>3</a:t>
            </a:r>
            <a:r>
              <a:rPr dirty="0" sz="3600" lang="en-US"/>
              <a:t>2</a:t>
            </a:r>
            <a:r>
              <a:rPr dirty="0" sz="3600" lang="en-US"/>
              <a:t>2</a:t>
            </a:r>
            <a:r>
              <a:rPr dirty="0" sz="3600" lang="en-US"/>
              <a:t>0</a:t>
            </a:r>
            <a:r>
              <a:rPr dirty="0" sz="3600" lang="en-US"/>
              <a:t>5</a:t>
            </a:r>
            <a:r>
              <a:rPr dirty="0" sz="3600" lang="en-US"/>
              <a:t>8</a:t>
            </a:r>
            <a:r>
              <a:rPr dirty="0" sz="3600" lang="en-US"/>
              <a:t>1</a:t>
            </a:r>
            <a:r>
              <a:rPr dirty="0" sz="3600" lang="en-US"/>
              <a:t>8</a:t>
            </a:r>
            <a:endParaRPr altLang="en-US" sz="4000" lang="zh-CN"/>
          </a:p>
          <a:p>
            <a:r>
              <a:rPr dirty="0" sz="3600" lang="en-US"/>
              <a:t>DEPARTMENT</a:t>
            </a:r>
            <a:r>
              <a:rPr dirty="0" sz="3600" lang="en-US"/>
              <a:t> </a:t>
            </a:r>
            <a:r>
              <a:rPr dirty="0" sz="3600" lang="en-US"/>
              <a:t>:</a:t>
            </a:r>
            <a:r>
              <a:rPr dirty="0" sz="3600" lang="en-US"/>
              <a:t> </a:t>
            </a:r>
            <a:r>
              <a:rPr dirty="0" sz="3600" lang="en-US"/>
              <a:t>I</a:t>
            </a:r>
            <a:r>
              <a:rPr dirty="0" sz="3600" lang="en-US"/>
              <a:t>I</a:t>
            </a:r>
            <a:r>
              <a:rPr dirty="0" sz="3600" lang="en-US"/>
              <a:t>I</a:t>
            </a:r>
            <a:r>
              <a:rPr dirty="0" sz="3600" lang="en-US"/>
              <a:t> </a:t>
            </a:r>
            <a:r>
              <a:rPr dirty="0" sz="3600" lang="en-US"/>
              <a:t>B</a:t>
            </a:r>
            <a:r>
              <a:rPr dirty="0" sz="3600" lang="en-US"/>
              <a:t>.</a:t>
            </a:r>
            <a:r>
              <a:rPr dirty="0" sz="3600" lang="en-US"/>
              <a:t>C</a:t>
            </a:r>
            <a:r>
              <a:rPr dirty="0" sz="3600" lang="en-US"/>
              <a:t>o</a:t>
            </a:r>
            <a:r>
              <a:rPr dirty="0" sz="3600" lang="en-US"/>
              <a:t>m</a:t>
            </a:r>
            <a:r>
              <a:rPr dirty="0" sz="3600" lang="en-US"/>
              <a:t> </a:t>
            </a:r>
            <a:r>
              <a:rPr dirty="0" sz="3600" lang="en-US"/>
              <a:t>(</a:t>
            </a:r>
            <a:r>
              <a:rPr dirty="0" sz="3600" lang="en-US"/>
              <a:t> </a:t>
            </a:r>
            <a:r>
              <a:rPr dirty="0" sz="3600" lang="en-US"/>
              <a:t>B</a:t>
            </a:r>
            <a:r>
              <a:rPr dirty="0" sz="3600" lang="en-US"/>
              <a:t>a</a:t>
            </a:r>
            <a:r>
              <a:rPr dirty="0" sz="3600" lang="en-US"/>
              <a:t>n</a:t>
            </a:r>
            <a:r>
              <a:rPr dirty="0" sz="3600" lang="en-US"/>
              <a:t>k</a:t>
            </a:r>
            <a:r>
              <a:rPr dirty="0" sz="3600" lang="en-US"/>
              <a:t> </a:t>
            </a:r>
            <a:r>
              <a:rPr dirty="0" sz="3600" lang="en-US"/>
              <a:t>Management</a:t>
            </a:r>
            <a:r>
              <a:rPr dirty="0" sz="3600" lang="en-US"/>
              <a:t>)</a:t>
            </a:r>
            <a:endParaRPr altLang="en-US" sz="4000" lang="zh-CN"/>
          </a:p>
          <a:p>
            <a:r>
              <a:rPr dirty="0" sz="3600" lang="en-US"/>
              <a:t>COLLEGE</a:t>
            </a:r>
            <a:r>
              <a:rPr dirty="0" sz="3600" lang="en-US"/>
              <a:t> </a:t>
            </a:r>
            <a:r>
              <a:rPr dirty="0" sz="3600" lang="en-US"/>
              <a:t>:</a:t>
            </a:r>
            <a:r>
              <a:rPr dirty="0" sz="3600" lang="en-US"/>
              <a:t> </a:t>
            </a:r>
            <a:r>
              <a:rPr dirty="0" sz="3600" lang="en-US"/>
              <a:t>V</a:t>
            </a:r>
            <a:r>
              <a:rPr dirty="0" sz="3600" lang="en-US"/>
              <a:t>i</a:t>
            </a:r>
            <a:r>
              <a:rPr dirty="0" sz="3600" lang="en-US"/>
              <a:t>d</a:t>
            </a:r>
            <a:r>
              <a:rPr dirty="0" sz="3600" lang="en-US"/>
              <a:t>h</a:t>
            </a:r>
            <a:r>
              <a:rPr dirty="0" sz="3600" lang="en-US"/>
              <a:t>y</a:t>
            </a:r>
            <a:r>
              <a:rPr dirty="0" sz="3600" lang="en-US"/>
              <a:t>a </a:t>
            </a:r>
            <a:r>
              <a:rPr dirty="0" sz="3600" lang="en-US"/>
              <a:t>S</a:t>
            </a:r>
            <a:r>
              <a:rPr dirty="0" sz="3600" lang="en-US"/>
              <a:t>a</a:t>
            </a:r>
            <a:r>
              <a:rPr dirty="0" sz="3600" lang="en-US"/>
              <a:t>g</a:t>
            </a:r>
            <a:r>
              <a:rPr dirty="0" sz="3600" lang="en-US"/>
              <a:t>ar </a:t>
            </a:r>
            <a:r>
              <a:rPr dirty="0" sz="3600" lang="en-US"/>
              <a:t>W</a:t>
            </a:r>
            <a:r>
              <a:rPr dirty="0" sz="3600" lang="en-US"/>
              <a:t>o</a:t>
            </a:r>
            <a:r>
              <a:rPr dirty="0" sz="3600" lang="en-US"/>
              <a:t>m</a:t>
            </a:r>
            <a:r>
              <a:rPr dirty="0" sz="3600" lang="en-US"/>
              <a:t>en's </a:t>
            </a:r>
            <a:r>
              <a:rPr dirty="0" sz="3600" lang="en-US"/>
              <a:t>C</a:t>
            </a:r>
            <a:r>
              <a:rPr dirty="0" sz="3600" lang="en-US"/>
              <a:t>o</a:t>
            </a:r>
            <a:r>
              <a:rPr dirty="0" sz="3600" lang="en-US"/>
              <a:t>l</a:t>
            </a:r>
            <a:r>
              <a:rPr dirty="0" sz="3600" lang="en-US"/>
              <a:t>lege</a:t>
            </a:r>
            <a:endParaRPr altLang="en-US" sz="4000" lang="zh-CN"/>
          </a:p>
          <a:p>
            <a:r>
              <a:rPr dirty="0" sz="3600" lang="en-US"/>
              <a:t>         </a:t>
            </a:r>
            <a:endParaRPr dirty="0" sz="240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32" name=""/>
        <p:cNvGrpSpPr/>
        <p:nvPr/>
      </p:nvGrpSpPr>
      <p:grpSpPr>
        <a:xfrm>
          <a:off x="0" y="0"/>
          <a:ext cx="0" cy="0"/>
          <a:chOff x="0" y="0"/>
          <a:chExt cx="0" cy="0"/>
        </a:xfrm>
      </p:grpSpPr>
      <p:sp>
        <p:nvSpPr>
          <p:cNvPr id="1048636" name="object 2"/>
          <p:cNvSpPr/>
          <p:nvPr/>
        </p:nvSpPr>
        <p:spPr>
          <a:xfrm>
            <a:off x="0" y="2019299"/>
            <a:ext cx="12192000" cy="5010204"/>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latin typeface="Times New Roman" panose="02020603050405020304" pitchFamily="18" charset="0"/>
              <a:cs typeface="Times New Roman" panose="02020603050405020304" pitchFamily="18" charset="0"/>
            </a:endParaRPr>
          </a:p>
        </p:txBody>
      </p:sp>
      <p:grpSp>
        <p:nvGrpSpPr>
          <p:cNvPr id="33" name="object 3"/>
          <p:cNvGrpSpPr/>
          <p:nvPr/>
        </p:nvGrpSpPr>
        <p:grpSpPr>
          <a:xfrm>
            <a:off x="7443849" y="0"/>
            <a:ext cx="4752975" cy="6863080"/>
            <a:chOff x="7443849" y="0"/>
            <a:chExt cx="4752975" cy="6863080"/>
          </a:xfrm>
        </p:grpSpPr>
        <p:sp>
          <p:nvSpPr>
            <p:cNvPr id="1048637"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38"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39"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40"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41"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42"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43"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44"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45"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46"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47"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8"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49"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50" name="object 17"/>
          <p:cNvSpPr txBox="1">
            <a:spLocks noGrp="1"/>
          </p:cNvSpPr>
          <p:nvPr>
            <p:ph type="title"/>
          </p:nvPr>
        </p:nvSpPr>
        <p:spPr>
          <a:xfrm>
            <a:off x="223837" y="198984"/>
            <a:ext cx="3909695" cy="537210"/>
          </a:xfrm>
          <a:prstGeom prst="rect"/>
        </p:spPr>
        <p:txBody>
          <a:bodyPr bIns="0" lIns="0" rIns="0" rtlCol="0" tIns="16510" vert="horz" wrap="square">
            <a:spAutoFit/>
          </a:bodyPr>
          <a:p>
            <a:pPr marL="12700">
              <a:lnSpc>
                <a:spcPct val="100000"/>
              </a:lnSpc>
              <a:spcBef>
                <a:spcPts val="130"/>
              </a:spcBef>
            </a:pPr>
            <a:r>
              <a:rPr dirty="0" sz="4250" spc="5"/>
              <a:t>PROJECT</a:t>
            </a:r>
            <a:r>
              <a:rPr dirty="0" sz="4250" spc="-85"/>
              <a:t> </a:t>
            </a:r>
            <a:r>
              <a:rPr dirty="0" sz="4250" spc="25"/>
              <a:t>TITLE</a:t>
            </a:r>
            <a:endParaRPr sz="4250"/>
          </a:p>
        </p:txBody>
      </p:sp>
      <p:grpSp>
        <p:nvGrpSpPr>
          <p:cNvPr id="34" name="object 18"/>
          <p:cNvGrpSpPr/>
          <p:nvPr/>
        </p:nvGrpSpPr>
        <p:grpSpPr>
          <a:xfrm>
            <a:off x="466725" y="6410325"/>
            <a:ext cx="3705225" cy="295275"/>
            <a:chOff x="466725" y="6410325"/>
            <a:chExt cx="3705225" cy="295275"/>
          </a:xfrm>
        </p:grpSpPr>
        <p:pic>
          <p:nvPicPr>
            <p:cNvPr id="2097158"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9"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51" name="object 22"/>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2</a:t>
            </a:fld>
            <a:endParaRPr dirty="0" spc="10"/>
          </a:p>
        </p:txBody>
      </p:sp>
      <p:sp>
        <p:nvSpPr>
          <p:cNvPr id="1048652" name="TextBox 22"/>
          <p:cNvSpPr txBox="1"/>
          <p:nvPr/>
        </p:nvSpPr>
        <p:spPr>
          <a:xfrm>
            <a:off x="483588" y="782318"/>
            <a:ext cx="8593228" cy="650241"/>
          </a:xfrm>
          <a:prstGeom prst="rect"/>
          <a:noFill/>
        </p:spPr>
        <p:txBody>
          <a:bodyPr rtlCol="0" wrap="square">
            <a:spAutoFit/>
          </a:bodyPr>
          <a:p>
            <a:r>
              <a:rPr b="1" dirty="0" sz="4400" lang="en-US">
                <a:solidFill>
                  <a:srgbClr val="0F0F0F"/>
                </a:solidFill>
                <a:latin typeface="Times New Roman" panose="02020603050405020304" pitchFamily="18" charset="0"/>
                <a:cs typeface="Times New Roman" panose="02020603050405020304" pitchFamily="18" charset="0"/>
              </a:rPr>
              <a:t>Employee Performance Analysis using Excel</a:t>
            </a:r>
            <a:endParaRPr dirty="0" sz="2800" lang="en-IN">
              <a:solidFill>
                <a:srgbClr val="7030A0"/>
              </a:solidFill>
              <a:latin typeface="Times New Roman" panose="02020603050405020304" pitchFamily="18" charset="0"/>
              <a:cs typeface="Times New Roman" panose="02020603050405020304" pitchFamily="18" charset="0"/>
            </a:endParaRPr>
          </a:p>
        </p:txBody>
      </p:sp>
      <p:sp>
        <p:nvSpPr>
          <p:cNvPr id="1048712" name=""/>
          <p:cNvSpPr txBox="1"/>
          <p:nvPr/>
        </p:nvSpPr>
        <p:spPr>
          <a:xfrm>
            <a:off x="223836" y="1432560"/>
            <a:ext cx="11034024" cy="5425439"/>
          </a:xfrm>
          <a:prstGeom prst="rect"/>
        </p:spPr>
        <p:txBody>
          <a:bodyPr rtlCol="0" wrap="square">
            <a:spAutoFit/>
          </a:bodyPr>
          <a:p>
            <a:r>
              <a:rPr sz="2800" lang="en-US">
                <a:solidFill>
                  <a:srgbClr val="000000"/>
                </a:solidFill>
              </a:rPr>
              <a:t>Create a performance tracking spreadsheet: Set performance goals, track performance, and analyze the data. </a:t>
            </a:r>
            <a:endParaRPr sz="3200" lang="en-IN">
              <a:solidFill>
                <a:srgbClr val="000000"/>
              </a:solidFill>
            </a:endParaRPr>
          </a:p>
          <a:p>
            <a:r>
              <a:rPr sz="2800" lang="en-US">
                <a:solidFill>
                  <a:srgbClr val="000000"/>
                </a:solidFill>
              </a:rPr>
              <a:t> </a:t>
            </a:r>
            <a:endParaRPr sz="3200" lang="en-IN">
              <a:solidFill>
                <a:srgbClr val="000000"/>
              </a:solidFill>
            </a:endParaRPr>
          </a:p>
          <a:p>
            <a:r>
              <a:rPr sz="2800" lang="en-US">
                <a:solidFill>
                  <a:srgbClr val="000000"/>
                </a:solidFill>
              </a:rPr>
              <a:t>Use a performance review template: Include cells for the employee's name, role, and review date, and then create an evaluation section. The evaluation section should be tailored to your business and role, and include metrics that are important to you. </a:t>
            </a:r>
            <a:endParaRPr sz="3200" lang="en-IN">
              <a:solidFill>
                <a:srgbClr val="000000"/>
              </a:solidFill>
            </a:endParaRPr>
          </a:p>
          <a:p>
            <a:r>
              <a:rPr sz="2800" lang="en-US">
                <a:solidFill>
                  <a:srgbClr val="000000"/>
                </a:solidFill>
              </a:rPr>
              <a:t> </a:t>
            </a:r>
            <a:endParaRPr sz="3200" lang="en-IN">
              <a:solidFill>
                <a:srgbClr val="000000"/>
              </a:solidFill>
            </a:endParaRPr>
          </a:p>
          <a:p>
            <a:r>
              <a:rPr sz="2800" lang="en-US">
                <a:solidFill>
                  <a:srgbClr val="000000"/>
                </a:solidFill>
              </a:rPr>
              <a:t>Use a performance dashboard template: Enter employee details, performance details, and other information, and then view the automated dashboard. </a:t>
            </a:r>
            <a:endParaRPr sz="3200" lang="en-IN">
              <a:solidFill>
                <a:srgbClr val="000000"/>
              </a:solidFill>
            </a:endParaRPr>
          </a:p>
          <a:p>
            <a:r>
              <a:rPr sz="2800" lang="en-US">
                <a:solidFill>
                  <a:srgbClr val="000000"/>
                </a:solidFill>
              </a:rPr>
              <a:t> </a:t>
            </a:r>
            <a:endParaRPr sz="3200" lang="en-IN">
              <a:solidFill>
                <a:srgbClr val="000000"/>
              </a:solidFill>
            </a:endParaRPr>
          </a:p>
          <a:p>
            <a:r>
              <a:rPr sz="2800" lang="en-US">
                <a:solidFill>
                  <a:srgbClr val="000000"/>
                </a:solidFill>
              </a:rPr>
              <a:t>Use a performance rating calculator: Set up a scale for ratings, and then calculate employee scores using a formula. </a:t>
            </a:r>
            <a:endParaRPr sz="3200" lang="en-IN">
              <a:solidFill>
                <a:srgbClr val="000000"/>
              </a:solidFill>
            </a:endParaRPr>
          </a:p>
          <a:p>
            <a:r>
              <a:rPr sz="2800" lang="en-US">
                <a:solidFill>
                  <a:srgbClr val="000000"/>
                </a:solidFill>
              </a:rPr>
              <a:t> </a:t>
            </a:r>
            <a:endParaRPr sz="3200" lang="en-IN">
              <a:solidFill>
                <a:srgbClr val="000000"/>
              </a:solidFill>
            </a:endParaRPr>
          </a:p>
          <a:p>
            <a:r>
              <a:rPr sz="2800" lang="en-US">
                <a:solidFill>
                  <a:srgbClr val="000000"/>
                </a:solidFill>
              </a:rPr>
              <a:t>Use text manipulation functions: Excel has many functions that can help you manipulate text data. </a:t>
            </a:r>
            <a:endParaRPr sz="3200" lang="en-IN">
              <a:solidFill>
                <a:srgbClr val="000000"/>
              </a:solidFill>
            </a:endParaRPr>
          </a:p>
          <a:p>
            <a:endParaRPr sz="2800" lang="en-IN">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35" name=""/>
        <p:cNvGrpSpPr/>
        <p:nvPr/>
      </p:nvGrpSpPr>
      <p:grpSpPr>
        <a:xfrm>
          <a:off x="0" y="0"/>
          <a:ext cx="0" cy="0"/>
          <a:chOff x="0" y="0"/>
          <a:chExt cx="0" cy="0"/>
        </a:xfrm>
      </p:grpSpPr>
      <p:sp>
        <p:nvSpPr>
          <p:cNvPr id="1048653" name="object 2"/>
          <p:cNvSpPr/>
          <p:nvPr/>
        </p:nvSpPr>
        <p:spPr>
          <a:xfrm>
            <a:off x="-76200" y="28579"/>
            <a:ext cx="12481713"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p>
        </p:txBody>
      </p:sp>
      <p:grpSp>
        <p:nvGrpSpPr>
          <p:cNvPr id="36" name="object 3"/>
          <p:cNvGrpSpPr/>
          <p:nvPr/>
        </p:nvGrpSpPr>
        <p:grpSpPr>
          <a:xfrm>
            <a:off x="7443849" y="0"/>
            <a:ext cx="4752975" cy="6863080"/>
            <a:chOff x="7443849" y="0"/>
            <a:chExt cx="4752975" cy="6863080"/>
          </a:xfrm>
        </p:grpSpPr>
        <p:sp>
          <p:nvSpPr>
            <p:cNvPr id="1048654"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55"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56"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57"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58"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59"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60"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61"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62"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63"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64" name="object 14"/>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65"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66"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60"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37" name="object 18"/>
          <p:cNvGrpSpPr/>
          <p:nvPr/>
        </p:nvGrpSpPr>
        <p:grpSpPr>
          <a:xfrm>
            <a:off x="47625" y="3819523"/>
            <a:ext cx="4124325" cy="3009900"/>
            <a:chOff x="47625" y="3819523"/>
            <a:chExt cx="4124325" cy="3009900"/>
          </a:xfrm>
        </p:grpSpPr>
        <p:pic>
          <p:nvPicPr>
            <p:cNvPr id="2097161"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62"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67" name="object 21"/>
          <p:cNvSpPr txBox="1">
            <a:spLocks noGrp="1"/>
          </p:cNvSpPr>
          <p:nvPr>
            <p:ph type="title"/>
          </p:nvPr>
        </p:nvSpPr>
        <p:spPr>
          <a:xfrm>
            <a:off x="739775" y="445388"/>
            <a:ext cx="2357120" cy="622935"/>
          </a:xfrm>
          <a:prstGeom prst="rect"/>
        </p:spPr>
        <p:txBody>
          <a:bodyPr bIns="0" lIns="0" rIns="0" rtlCol="0" tIns="13335" vert="horz" wrap="square">
            <a:spAutoFit/>
          </a:bodyPr>
          <a:p>
            <a:pPr marL="12700">
              <a:lnSpc>
                <a:spcPct val="100000"/>
              </a:lnSpc>
              <a:spcBef>
                <a:spcPts val="105"/>
              </a:spcBef>
            </a:pPr>
            <a:r>
              <a:rPr dirty="0" spc="25"/>
              <a:t>A</a:t>
            </a:r>
            <a:r>
              <a:rPr dirty="0" spc="-5"/>
              <a:t>G</a:t>
            </a:r>
            <a:r>
              <a:rPr dirty="0" spc="-35"/>
              <a:t>E</a:t>
            </a:r>
            <a:r>
              <a:rPr dirty="0" spc="15"/>
              <a:t>N</a:t>
            </a:r>
            <a:r>
              <a:rPr dirty="0"/>
              <a:t>DA</a:t>
            </a:r>
          </a:p>
        </p:txBody>
      </p:sp>
      <p:sp>
        <p:nvSpPr>
          <p:cNvPr id="1048668" name="object 22"/>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3</a:t>
            </a:fld>
            <a:endParaRPr dirty="0" spc="10"/>
          </a:p>
        </p:txBody>
      </p:sp>
      <p:sp>
        <p:nvSpPr>
          <p:cNvPr id="1048669" name="TextBox 22"/>
          <p:cNvSpPr txBox="1"/>
          <p:nvPr/>
        </p:nvSpPr>
        <p:spPr>
          <a:xfrm>
            <a:off x="2509807" y="1041533"/>
            <a:ext cx="5029200" cy="4447539"/>
          </a:xfrm>
          <a:prstGeom prst="rect"/>
          <a:noFill/>
        </p:spPr>
        <p:txBody>
          <a:bodyPr rtlCol="0" wrap="square">
            <a:spAutoFit/>
          </a:bodyPr>
          <a:p>
            <a:pPr algn="l"/>
            <a:endParaRPr b="0" dirty="0" sz="36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3600" i="0" lang="en-US">
                <a:solidFill>
                  <a:srgbClr val="0D0D0D"/>
                </a:solidFill>
                <a:effectLst/>
                <a:latin typeface="Times New Roman" panose="02020603050405020304" pitchFamily="18" charset="0"/>
                <a:cs typeface="Times New Roman" panose="02020603050405020304" pitchFamily="18" charset="0"/>
              </a:rPr>
              <a:t>Problem Statement</a:t>
            </a:r>
            <a:endParaRPr sz="4000"/>
          </a:p>
          <a:p>
            <a:pPr algn="l">
              <a:buFont typeface="+mj-lt"/>
              <a:buAutoNum type="arabicPeriod"/>
            </a:pPr>
            <a:r>
              <a:rPr b="0" dirty="0" sz="3600" i="0" lang="en-US">
                <a:solidFill>
                  <a:srgbClr val="0D0D0D"/>
                </a:solidFill>
                <a:effectLst/>
                <a:latin typeface="Times New Roman" panose="02020603050405020304" pitchFamily="18" charset="0"/>
                <a:cs typeface="Times New Roman" panose="02020603050405020304" pitchFamily="18" charset="0"/>
              </a:rPr>
              <a:t>Project Overview</a:t>
            </a:r>
            <a:endParaRPr sz="4000"/>
          </a:p>
          <a:p>
            <a:pPr algn="l">
              <a:buFont typeface="+mj-lt"/>
              <a:buAutoNum type="arabicPeriod"/>
            </a:pPr>
            <a:r>
              <a:rPr b="0" dirty="0" sz="3600" i="0" lang="en-US">
                <a:solidFill>
                  <a:srgbClr val="0D0D0D"/>
                </a:solidFill>
                <a:effectLst/>
                <a:latin typeface="Times New Roman" panose="02020603050405020304" pitchFamily="18" charset="0"/>
                <a:cs typeface="Times New Roman" panose="02020603050405020304" pitchFamily="18" charset="0"/>
              </a:rPr>
              <a:t>End Users</a:t>
            </a:r>
            <a:endParaRPr sz="4000"/>
          </a:p>
          <a:p>
            <a:pPr algn="l">
              <a:buFont typeface="+mj-lt"/>
              <a:buAutoNum type="arabicPeriod"/>
            </a:pPr>
            <a:r>
              <a:rPr b="0" dirty="0" sz="3600" i="0" lang="en-US">
                <a:solidFill>
                  <a:srgbClr val="0D0D0D"/>
                </a:solidFill>
                <a:effectLst/>
                <a:latin typeface="Times New Roman" panose="02020603050405020304" pitchFamily="18" charset="0"/>
                <a:cs typeface="Times New Roman" panose="02020603050405020304" pitchFamily="18" charset="0"/>
              </a:rPr>
              <a:t>Our Solution and Proposition</a:t>
            </a:r>
            <a:endParaRPr sz="4000"/>
          </a:p>
          <a:p>
            <a:pPr algn="l">
              <a:buFont typeface="+mj-lt"/>
              <a:buAutoNum type="arabicPeriod"/>
            </a:pPr>
            <a:r>
              <a:rPr dirty="0" sz="3600" lang="en-US">
                <a:solidFill>
                  <a:srgbClr val="0D0D0D"/>
                </a:solidFill>
                <a:latin typeface="Times New Roman" panose="02020603050405020304" pitchFamily="18" charset="0"/>
                <a:cs typeface="Times New Roman" panose="02020603050405020304" pitchFamily="18" charset="0"/>
              </a:rPr>
              <a:t>Dataset Description</a:t>
            </a:r>
            <a:endParaRPr b="0" dirty="0" sz="40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3600" i="0" lang="en-US">
                <a:solidFill>
                  <a:srgbClr val="0D0D0D"/>
                </a:solidFill>
                <a:effectLst/>
                <a:latin typeface="Times New Roman" panose="02020603050405020304" pitchFamily="18" charset="0"/>
                <a:cs typeface="Times New Roman" panose="02020603050405020304" pitchFamily="18" charset="0"/>
              </a:rPr>
              <a:t>Modelling Approach</a:t>
            </a:r>
            <a:endParaRPr sz="4000"/>
          </a:p>
          <a:p>
            <a:pPr algn="l">
              <a:buFont typeface="+mj-lt"/>
              <a:buAutoNum type="arabicPeriod"/>
            </a:pPr>
            <a:r>
              <a:rPr b="0" dirty="0" sz="3600" i="0" lang="en-US">
                <a:solidFill>
                  <a:srgbClr val="0D0D0D"/>
                </a:solidFill>
                <a:effectLst/>
                <a:latin typeface="Times New Roman" panose="02020603050405020304" pitchFamily="18" charset="0"/>
                <a:cs typeface="Times New Roman" panose="02020603050405020304" pitchFamily="18" charset="0"/>
              </a:rPr>
              <a:t>Results and </a:t>
            </a:r>
            <a:r>
              <a:rPr dirty="0" sz="3600" lang="en-US">
                <a:solidFill>
                  <a:srgbClr val="0D0D0D"/>
                </a:solidFill>
                <a:latin typeface="Times New Roman" panose="02020603050405020304" pitchFamily="18" charset="0"/>
                <a:cs typeface="Times New Roman" panose="02020603050405020304" pitchFamily="18" charset="0"/>
              </a:rPr>
              <a:t>Discussion</a:t>
            </a:r>
            <a:endParaRPr b="0" dirty="0" sz="40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3600" i="0" lang="en-US">
                <a:solidFill>
                  <a:srgbClr val="0D0D0D"/>
                </a:solidFill>
                <a:effectLst/>
                <a:latin typeface="Times New Roman" panose="02020603050405020304" pitchFamily="18" charset="0"/>
                <a:cs typeface="Times New Roman" panose="02020603050405020304" pitchFamily="18" charset="0"/>
              </a:rPr>
              <a:t>Conclusion</a:t>
            </a:r>
            <a:endParaRPr sz="4000"/>
          </a:p>
          <a:p>
            <a:endParaRPr dirty="0" sz="2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grpSp>
        <p:nvGrpSpPr>
          <p:cNvPr id="39" name="object 2"/>
          <p:cNvGrpSpPr/>
          <p:nvPr/>
        </p:nvGrpSpPr>
        <p:grpSpPr>
          <a:xfrm>
            <a:off x="7991475" y="2933700"/>
            <a:ext cx="2762250" cy="3257550"/>
            <a:chOff x="7991475" y="2933700"/>
            <a:chExt cx="2762250" cy="3257550"/>
          </a:xfrm>
        </p:grpSpPr>
        <p:sp>
          <p:nvSpPr>
            <p:cNvPr id="1048670"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1"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3" name="object 5"/>
            <p:cNvPicPr>
              <a:picLocks/>
            </p:cNvPicPr>
            <p:nvPr/>
          </p:nvPicPr>
          <p:blipFill>
            <a:blip xmlns:r="http://schemas.openxmlformats.org/officeDocument/2006/relationships" r:embed="rId1" cstate="print"/>
            <a:stretch>
              <a:fillRect/>
            </a:stretch>
          </p:blipFill>
          <p:spPr>
            <a:xfrm>
              <a:off x="7991475" y="2933700"/>
              <a:ext cx="2762250" cy="3257550"/>
            </a:xfrm>
            <a:prstGeom prst="rect"/>
          </p:spPr>
        </p:pic>
      </p:grpSp>
      <p:sp>
        <p:nvSpPr>
          <p:cNvPr id="1048672"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3" name="object 7"/>
          <p:cNvSpPr txBox="1">
            <a:spLocks noGrp="1"/>
          </p:cNvSpPr>
          <p:nvPr>
            <p:ph type="title"/>
          </p:nvPr>
        </p:nvSpPr>
        <p:spPr>
          <a:xfrm>
            <a:off x="834072" y="575055"/>
            <a:ext cx="5636895" cy="537210"/>
          </a:xfrm>
          <a:prstGeom prst="rect"/>
        </p:spPr>
        <p:txBody>
          <a:bodyPr bIns="0" lIns="0" rIns="0" rtlCol="0" tIns="16510" vert="horz" wrap="square">
            <a:spAutoFit/>
          </a:bodyPr>
          <a:p>
            <a:pPr marL="12700">
              <a:lnSpc>
                <a:spcPct val="100000"/>
              </a:lnSpc>
              <a:spcBef>
                <a:spcPts val="130"/>
              </a:spcBef>
              <a:tabLst>
                <a:tab algn="l" pos="2727960"/>
              </a:tabLst>
            </a:pPr>
            <a:r>
              <a:rPr dirty="0" sz="4250" spc="-20"/>
              <a:t>P</a:t>
            </a:r>
            <a:r>
              <a:rPr dirty="0" sz="4250" spc="15"/>
              <a:t>ROB</a:t>
            </a:r>
            <a:r>
              <a:rPr dirty="0" sz="4250" spc="55"/>
              <a:t>L</a:t>
            </a:r>
            <a:r>
              <a:rPr dirty="0" sz="4250" spc="-20"/>
              <a:t>E</a:t>
            </a:r>
            <a:r>
              <a:rPr dirty="0" sz="4250" spc="20"/>
              <a:t>M</a:t>
            </a:r>
            <a:r>
              <a:rPr dirty="0" sz="4250"/>
              <a:t>	</a:t>
            </a:r>
            <a:r>
              <a:rPr dirty="0" sz="4250" spc="10"/>
              <a:t>S</a:t>
            </a:r>
            <a:r>
              <a:rPr dirty="0" sz="4250" spc="-370"/>
              <a:t>T</a:t>
            </a:r>
            <a:r>
              <a:rPr dirty="0" sz="4250" spc="-375"/>
              <a:t>A</a:t>
            </a:r>
            <a:r>
              <a:rPr dirty="0" sz="4250" spc="15"/>
              <a:t>T</a:t>
            </a:r>
            <a:r>
              <a:rPr dirty="0" sz="4250" spc="-10"/>
              <a:t>E</a:t>
            </a:r>
            <a:r>
              <a:rPr dirty="0" sz="4250" spc="-20"/>
              <a:t>ME</a:t>
            </a:r>
            <a:r>
              <a:rPr dirty="0" sz="4250" spc="10"/>
              <a:t>NT</a:t>
            </a:r>
            <a:endParaRPr sz="4250"/>
          </a:p>
        </p:txBody>
      </p:sp>
      <p:pic>
        <p:nvPicPr>
          <p:cNvPr id="2097164"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74" name="object 10"/>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4</a:t>
            </a:fld>
            <a:endParaRPr dirty="0" spc="10"/>
          </a:p>
        </p:txBody>
      </p:sp>
      <p:sp>
        <p:nvSpPr>
          <p:cNvPr id="1048675" name=""/>
          <p:cNvSpPr txBox="1"/>
          <p:nvPr/>
        </p:nvSpPr>
        <p:spPr>
          <a:xfrm>
            <a:off x="713605" y="1695450"/>
            <a:ext cx="7266616" cy="4968239"/>
          </a:xfrm>
          <a:prstGeom prst="rect"/>
        </p:spPr>
        <p:txBody>
          <a:bodyPr rtlCol="0" wrap="square">
            <a:spAutoFit/>
          </a:bodyPr>
          <a:p>
            <a:r>
              <a:rPr sz="4800" lang="en-US">
                <a:solidFill>
                  <a:srgbClr val="000000"/>
                </a:solidFill>
              </a:rPr>
              <a:t>A problem statement is a description of an issue to be addressed. or a condition to be improved upon. It identifies the gap between the current problem and goal. The first condition of solving a problem is understanding the problem, which can be done by way of a problem statement.</a:t>
            </a:r>
            <a:endParaRPr sz="2800" lang="en-IN">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grpSp>
        <p:nvGrpSpPr>
          <p:cNvPr id="41" name="object 2"/>
          <p:cNvGrpSpPr/>
          <p:nvPr/>
        </p:nvGrpSpPr>
        <p:grpSpPr>
          <a:xfrm>
            <a:off x="8658225" y="2647950"/>
            <a:ext cx="3533775" cy="3810000"/>
            <a:chOff x="8658225" y="2647950"/>
            <a:chExt cx="3533775" cy="3810000"/>
          </a:xfrm>
        </p:grpSpPr>
        <p:sp>
          <p:nvSpPr>
            <p:cNvPr id="1048676"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7"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5"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78"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9" name="object 7"/>
          <p:cNvSpPr txBox="1">
            <a:spLocks noGrp="1"/>
          </p:cNvSpPr>
          <p:nvPr>
            <p:ph type="title"/>
          </p:nvPr>
        </p:nvSpPr>
        <p:spPr>
          <a:xfrm>
            <a:off x="739775" y="829627"/>
            <a:ext cx="5263515" cy="537210"/>
          </a:xfrm>
          <a:prstGeom prst="rect"/>
        </p:spPr>
        <p:txBody>
          <a:bodyPr bIns="0" lIns="0" rIns="0" rtlCol="0" tIns="16510" vert="horz" wrap="square">
            <a:spAutoFit/>
          </a:bodyPr>
          <a:p>
            <a:pPr marL="12700">
              <a:lnSpc>
                <a:spcPct val="100000"/>
              </a:lnSpc>
              <a:spcBef>
                <a:spcPts val="130"/>
              </a:spcBef>
              <a:tabLst>
                <a:tab algn="l" pos="2642870"/>
              </a:tabLst>
            </a:pPr>
            <a:r>
              <a:rPr dirty="0" sz="4250" spc="5"/>
              <a:t>PROJECT	</a:t>
            </a:r>
            <a:r>
              <a:rPr dirty="0" sz="4250" spc="-20"/>
              <a:t>OVERVIEW</a:t>
            </a:r>
            <a:endParaRPr sz="4250"/>
          </a:p>
        </p:txBody>
      </p:sp>
      <p:pic>
        <p:nvPicPr>
          <p:cNvPr id="2097166"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80" name="object 10"/>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5</a:t>
            </a:fld>
            <a:endParaRPr dirty="0" spc="10"/>
          </a:p>
        </p:txBody>
      </p:sp>
      <p:sp>
        <p:nvSpPr>
          <p:cNvPr id="1048681" name="TextBox 10"/>
          <p:cNvSpPr txBox="1"/>
          <p:nvPr/>
        </p:nvSpPr>
        <p:spPr>
          <a:xfrm>
            <a:off x="990600" y="2133600"/>
            <a:ext cx="7924800" cy="701040"/>
          </a:xfrm>
          <a:prstGeom prst="rect"/>
          <a:noFill/>
        </p:spPr>
        <p:txBody>
          <a:bodyPr rtlCol="0" wrap="square">
            <a:spAutoFit/>
          </a:bodyPr>
          <a:p>
            <a:pPr algn="l">
              <a:buFont typeface="Arial" panose="020B0604020202020204" pitchFamily="34" charset="0"/>
              <a:buChar char="•"/>
            </a:pPr>
            <a:r>
              <a:rPr b="0" dirty="0" sz="2400" i="0" lang="en-US">
                <a:solidFill>
                  <a:srgbClr val="0D0D0D"/>
                </a:solidFill>
                <a:effectLst/>
                <a:latin typeface="Times New Roman" panose="02020603050405020304" pitchFamily="18" charset="0"/>
                <a:cs typeface="Times New Roman" panose="02020603050405020304" pitchFamily="18" charset="0"/>
              </a:rPr>
              <a:t>.</a:t>
            </a:r>
          </a:p>
          <a:p>
            <a:endParaRPr dirty="0" sz="2400" lang="en-IN">
              <a:latin typeface="Times New Roman" panose="02020603050405020304" pitchFamily="18" charset="0"/>
              <a:cs typeface="Times New Roman" panose="02020603050405020304" pitchFamily="18" charset="0"/>
            </a:endParaRPr>
          </a:p>
        </p:txBody>
      </p:sp>
      <p:sp>
        <p:nvSpPr>
          <p:cNvPr id="1048682" name=""/>
          <p:cNvSpPr txBox="1"/>
          <p:nvPr/>
        </p:nvSpPr>
        <p:spPr>
          <a:xfrm>
            <a:off x="676274" y="1857375"/>
            <a:ext cx="6989331" cy="4561839"/>
          </a:xfrm>
          <a:prstGeom prst="rect"/>
        </p:spPr>
        <p:txBody>
          <a:bodyPr rtlCol="0" wrap="square">
            <a:spAutoFit/>
          </a:bodyPr>
          <a:p>
            <a:r>
              <a:rPr sz="4400" lang="en-IN">
                <a:solidFill>
                  <a:srgbClr val="000000"/>
                </a:solidFill>
              </a:rPr>
              <a:t>A project overview is a concise document that summarizes the key elements of a project, including its goals, objectives, schedule, budget, and resources. It's a useful tool for keeping everyone involved in a project informed and aligned, and can be used as a reference throughout the project's lifecycle.</a:t>
            </a:r>
            <a:endParaRPr sz="2800" lang="en-IN">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83"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84" name="object 3"/>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85"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86" name="object 5"/>
          <p:cNvSpPr txBox="1">
            <a:spLocks noGrp="1"/>
          </p:cNvSpPr>
          <p:nvPr>
            <p:ph type="title"/>
          </p:nvPr>
        </p:nvSpPr>
        <p:spPr>
          <a:xfrm>
            <a:off x="699452" y="891793"/>
            <a:ext cx="5014595" cy="410211"/>
          </a:xfrm>
          <a:prstGeom prst="rect"/>
        </p:spPr>
        <p:txBody>
          <a:bodyPr bIns="0" lIns="0" rIns="0" rtlCol="0" tIns="16510" vert="horz" wrap="square">
            <a:spAutoFit/>
          </a:bodyPr>
          <a:p>
            <a:pPr marL="12700">
              <a:lnSpc>
                <a:spcPct val="100000"/>
              </a:lnSpc>
              <a:spcBef>
                <a:spcPts val="130"/>
              </a:spcBef>
            </a:pPr>
            <a:r>
              <a:rPr dirty="0" sz="3200" spc="25"/>
              <a:t>W</a:t>
            </a:r>
            <a:r>
              <a:rPr dirty="0" sz="3200" spc="-20"/>
              <a:t>H</a:t>
            </a:r>
            <a:r>
              <a:rPr dirty="0" sz="3200" spc="20"/>
              <a:t>O</a:t>
            </a:r>
            <a:r>
              <a:rPr dirty="0" sz="3200" spc="-235"/>
              <a:t> </a:t>
            </a:r>
            <a:r>
              <a:rPr dirty="0" sz="3200" spc="-10"/>
              <a:t>AR</a:t>
            </a:r>
            <a:r>
              <a:rPr dirty="0" sz="3200" spc="15"/>
              <a:t>E</a:t>
            </a:r>
            <a:r>
              <a:rPr dirty="0" sz="3200" spc="-35"/>
              <a:t> </a:t>
            </a:r>
            <a:r>
              <a:rPr dirty="0" sz="3200" spc="-10"/>
              <a:t>T</a:t>
            </a:r>
            <a:r>
              <a:rPr dirty="0" sz="3200" spc="-15"/>
              <a:t>H</a:t>
            </a:r>
            <a:r>
              <a:rPr dirty="0" sz="3200" spc="15"/>
              <a:t>E</a:t>
            </a:r>
            <a:r>
              <a:rPr dirty="0" sz="3200" spc="-35"/>
              <a:t> </a:t>
            </a:r>
            <a:r>
              <a:rPr dirty="0" sz="3200" spc="-20"/>
              <a:t>E</a:t>
            </a:r>
            <a:r>
              <a:rPr dirty="0" sz="3200" spc="30"/>
              <a:t>N</a:t>
            </a:r>
            <a:r>
              <a:rPr dirty="0" sz="3200" spc="15"/>
              <a:t>D</a:t>
            </a:r>
            <a:r>
              <a:rPr dirty="0" sz="3200" spc="-45"/>
              <a:t> </a:t>
            </a:r>
            <a:r>
              <a:rPr dirty="0" sz="3200"/>
              <a:t>U</a:t>
            </a:r>
            <a:r>
              <a:rPr dirty="0" sz="3200" spc="10"/>
              <a:t>S</a:t>
            </a:r>
            <a:r>
              <a:rPr dirty="0" sz="3200" spc="-25"/>
              <a:t>E</a:t>
            </a:r>
            <a:r>
              <a:rPr dirty="0" sz="3200" spc="-10"/>
              <a:t>R</a:t>
            </a:r>
            <a:r>
              <a:rPr dirty="0" sz="3200" spc="5"/>
              <a:t>S?</a:t>
            </a:r>
            <a:endParaRPr sz="3200"/>
          </a:p>
        </p:txBody>
      </p:sp>
      <p:pic>
        <p:nvPicPr>
          <p:cNvPr id="2097167"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87" name="object 8"/>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6</a:t>
            </a:fld>
            <a:endParaRPr dirty="0" spc="10"/>
          </a:p>
        </p:txBody>
      </p:sp>
      <p:sp>
        <p:nvSpPr>
          <p:cNvPr id="1048688" name=""/>
          <p:cNvSpPr txBox="1"/>
          <p:nvPr/>
        </p:nvSpPr>
        <p:spPr>
          <a:xfrm>
            <a:off x="395786" y="1489518"/>
            <a:ext cx="8420895" cy="4980940"/>
          </a:xfrm>
          <a:prstGeom prst="rect"/>
        </p:spPr>
        <p:txBody>
          <a:bodyPr rtlCol="0" wrap="square">
            <a:spAutoFit/>
          </a:bodyPr>
          <a:p>
            <a:r>
              <a:rPr sz="3600" lang="en-US">
                <a:solidFill>
                  <a:srgbClr val="000000"/>
                </a:solidFill>
              </a:rPr>
              <a:t>In product development, an end user (sometimes end-user)[a] is a person who ultimately uses or is intended to ultimately use a product.[1][2][3] The end user stands in contrast to users who support or maintain the product,[4] such as sysops, system administrators, database administrators,[5] information technology (IT) experts, software professionals, and computer technicians. End users typically do not possess the technical understanding or skill of the product designers,[6] a fact easily overlooked and forgotten by designers: leading to features creating low customer satisfaction</a:t>
            </a:r>
            <a:endParaRPr sz="2800" lang="en-IN">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pic>
        <p:nvPicPr>
          <p:cNvPr id="2097155"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20"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21"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22"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23" name="object 6"/>
          <p:cNvSpPr txBox="1">
            <a:spLocks noGrp="1"/>
          </p:cNvSpPr>
          <p:nvPr>
            <p:ph type="title"/>
          </p:nvPr>
        </p:nvSpPr>
        <p:spPr>
          <a:xfrm>
            <a:off x="558165" y="857885"/>
            <a:ext cx="9763125" cy="457836"/>
          </a:xfrm>
          <a:prstGeom prst="rect"/>
        </p:spPr>
        <p:txBody>
          <a:bodyPr bIns="0" lIns="0" rIns="0" rtlCol="0" tIns="13335" vert="horz" wrap="square">
            <a:spAutoFit/>
          </a:bodyPr>
          <a:p>
            <a:pPr marL="12700">
              <a:lnSpc>
                <a:spcPct val="100000"/>
              </a:lnSpc>
              <a:spcBef>
                <a:spcPts val="105"/>
              </a:spcBef>
            </a:pPr>
            <a:r>
              <a:rPr dirty="0" sz="3600" spc="10"/>
              <a:t>O</a:t>
            </a:r>
            <a:r>
              <a:rPr dirty="0" sz="3600" spc="25"/>
              <a:t>U</a:t>
            </a:r>
            <a:r>
              <a:rPr dirty="0" sz="3600"/>
              <a:t>R</a:t>
            </a:r>
            <a:r>
              <a:rPr dirty="0" sz="3600" spc="5"/>
              <a:t> </a:t>
            </a:r>
            <a:r>
              <a:rPr dirty="0" sz="3600" spc="25"/>
              <a:t>S</a:t>
            </a:r>
            <a:r>
              <a:rPr dirty="0" sz="3600" spc="10"/>
              <a:t>O</a:t>
            </a:r>
            <a:r>
              <a:rPr dirty="0" sz="3600" spc="25"/>
              <a:t>LU</a:t>
            </a:r>
            <a:r>
              <a:rPr dirty="0" sz="3600" spc="-35"/>
              <a:t>T</a:t>
            </a:r>
            <a:r>
              <a:rPr dirty="0" sz="3600" spc="-30"/>
              <a:t>I</a:t>
            </a:r>
            <a:r>
              <a:rPr dirty="0" sz="3600" spc="10"/>
              <a:t>O</a:t>
            </a:r>
            <a:r>
              <a:rPr dirty="0" sz="3600"/>
              <a:t>N</a:t>
            </a:r>
            <a:r>
              <a:rPr dirty="0" sz="3600" spc="-345"/>
              <a:t> </a:t>
            </a:r>
            <a:r>
              <a:rPr dirty="0" sz="3600" spc="-35"/>
              <a:t>A</a:t>
            </a:r>
            <a:r>
              <a:rPr dirty="0" sz="3600" spc="-5"/>
              <a:t>N</a:t>
            </a:r>
            <a:r>
              <a:rPr dirty="0" sz="3600"/>
              <a:t>D</a:t>
            </a:r>
            <a:r>
              <a:rPr dirty="0" sz="3600" spc="35"/>
              <a:t> </a:t>
            </a:r>
            <a:r>
              <a:rPr dirty="0" sz="3600" spc="-30"/>
              <a:t>I</a:t>
            </a:r>
            <a:r>
              <a:rPr dirty="0" sz="3600" spc="-35"/>
              <a:t>T</a:t>
            </a:r>
            <a:r>
              <a:rPr dirty="0" sz="3600"/>
              <a:t>S</a:t>
            </a:r>
            <a:r>
              <a:rPr dirty="0" sz="3600" spc="60"/>
              <a:t> </a:t>
            </a:r>
            <a:r>
              <a:rPr dirty="0" sz="3600" spc="-295"/>
              <a:t>V</a:t>
            </a:r>
            <a:r>
              <a:rPr dirty="0" sz="3600" spc="-35"/>
              <a:t>A</a:t>
            </a:r>
            <a:r>
              <a:rPr dirty="0" sz="3600" spc="25"/>
              <a:t>LU</a:t>
            </a:r>
            <a:r>
              <a:rPr dirty="0" sz="3600"/>
              <a:t>E</a:t>
            </a:r>
            <a:r>
              <a:rPr dirty="0" sz="3600" spc="-65"/>
              <a:t> </a:t>
            </a:r>
            <a:r>
              <a:rPr dirty="0" sz="3600" spc="-15"/>
              <a:t>P</a:t>
            </a:r>
            <a:r>
              <a:rPr dirty="0" sz="3600" spc="-30"/>
              <a:t>R</a:t>
            </a:r>
            <a:r>
              <a:rPr dirty="0" sz="3600" spc="10"/>
              <a:t>O</a:t>
            </a:r>
            <a:r>
              <a:rPr dirty="0" sz="3600" spc="-15"/>
              <a:t>P</a:t>
            </a:r>
            <a:r>
              <a:rPr dirty="0" sz="3600" spc="10"/>
              <a:t>O</a:t>
            </a:r>
            <a:r>
              <a:rPr dirty="0" sz="3600" spc="25"/>
              <a:t>S</a:t>
            </a:r>
            <a:r>
              <a:rPr dirty="0" sz="3600" spc="-30"/>
              <a:t>I</a:t>
            </a:r>
            <a:r>
              <a:rPr dirty="0" sz="3600" spc="-35"/>
              <a:t>T</a:t>
            </a:r>
            <a:r>
              <a:rPr dirty="0" sz="3600" spc="-30"/>
              <a:t>I</a:t>
            </a:r>
            <a:r>
              <a:rPr dirty="0" sz="3600" spc="10"/>
              <a:t>O</a:t>
            </a:r>
            <a:r>
              <a:rPr dirty="0" sz="3600"/>
              <a:t>N</a:t>
            </a:r>
          </a:p>
        </p:txBody>
      </p:sp>
      <p:pic>
        <p:nvPicPr>
          <p:cNvPr id="2097156"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24" name="object 9"/>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7</a:t>
            </a:fld>
            <a:endParaRPr dirty="0" spc="10"/>
          </a:p>
        </p:txBody>
      </p:sp>
      <p:sp>
        <p:nvSpPr>
          <p:cNvPr id="1048625" name=""/>
          <p:cNvSpPr txBox="1"/>
          <p:nvPr/>
        </p:nvSpPr>
        <p:spPr>
          <a:xfrm>
            <a:off x="3010400" y="1857374"/>
            <a:ext cx="6598666" cy="4003041"/>
          </a:xfrm>
          <a:prstGeom prst="rect"/>
        </p:spPr>
        <p:txBody>
          <a:bodyPr rtlCol="0" wrap="square">
            <a:spAutoFit/>
          </a:bodyPr>
          <a:p>
            <a:r>
              <a:rPr sz="4400" lang="en-US">
                <a:solidFill>
                  <a:srgbClr val="000000"/>
                </a:solidFill>
              </a:rPr>
              <a:t>A value proposition is a way to communicate a company's solution and its benefits to customers. It's a key part of a company's marketing strategy, and can help differentiate the company from competitors. </a:t>
            </a:r>
            <a:endParaRPr sz="4000" lang="en-IN">
              <a:solidFill>
                <a:srgbClr val="000000"/>
              </a:solidFill>
            </a:endParaRPr>
          </a:p>
          <a:p>
            <a:r>
              <a:rPr sz="4400" lang="en-US">
                <a:solidFill>
                  <a:srgbClr val="000000"/>
                </a:solidFill>
              </a:rPr>
              <a:t> </a:t>
            </a:r>
            <a:endParaRPr sz="2800" lang="en-IN">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618" name="Title 1"/>
          <p:cNvSpPr>
            <a:spLocks noGrp="1"/>
          </p:cNvSpPr>
          <p:nvPr>
            <p:ph type="title"/>
          </p:nvPr>
        </p:nvSpPr>
        <p:spPr>
          <a:xfrm>
            <a:off x="755332" y="385444"/>
            <a:ext cx="10681335" cy="609601"/>
          </a:xfrm>
        </p:spPr>
        <p:txBody>
          <a:bodyPr/>
          <a:p>
            <a:r>
              <a:rPr dirty="0" lang="en-IN"/>
              <a:t>Dataset Description</a:t>
            </a:r>
          </a:p>
        </p:txBody>
      </p:sp>
      <p:sp>
        <p:nvSpPr>
          <p:cNvPr id="1048619" name=""/>
          <p:cNvSpPr txBox="1"/>
          <p:nvPr/>
        </p:nvSpPr>
        <p:spPr>
          <a:xfrm>
            <a:off x="538560" y="995044"/>
            <a:ext cx="9681542" cy="5781039"/>
          </a:xfrm>
          <a:prstGeom prst="rect"/>
        </p:spPr>
        <p:txBody>
          <a:bodyPr rtlCol="0" wrap="square">
            <a:spAutoFit/>
          </a:bodyPr>
          <a:p>
            <a:r>
              <a:rPr sz="2800" lang="en-US">
                <a:solidFill>
                  <a:srgbClr val="000000"/>
                </a:solidFill>
              </a:rPr>
              <a:t>A dataset description is a collection of information that provides details about a dataset. A dataset description can include: </a:t>
            </a:r>
            <a:endParaRPr sz="2400" lang="en-IN">
              <a:solidFill>
                <a:srgbClr val="000000"/>
              </a:solidFill>
            </a:endParaRPr>
          </a:p>
          <a:p>
            <a:r>
              <a:rPr sz="2800" lang="en-US">
                <a:solidFill>
                  <a:srgbClr val="000000"/>
                </a:solidFill>
              </a:rPr>
              <a:t> </a:t>
            </a:r>
            <a:endParaRPr sz="2400" lang="en-IN">
              <a:solidFill>
                <a:srgbClr val="000000"/>
              </a:solidFill>
            </a:endParaRPr>
          </a:p>
          <a:p>
            <a:r>
              <a:rPr sz="2800" lang="en-US">
                <a:solidFill>
                  <a:srgbClr val="000000"/>
                </a:solidFill>
              </a:rPr>
              <a:t>Purpose</a:t>
            </a:r>
            <a:endParaRPr sz="2400" lang="en-IN">
              <a:solidFill>
                <a:srgbClr val="000000"/>
              </a:solidFill>
            </a:endParaRPr>
          </a:p>
          <a:p>
            <a:r>
              <a:rPr sz="2800" lang="en-US">
                <a:solidFill>
                  <a:srgbClr val="000000"/>
                </a:solidFill>
              </a:rPr>
              <a:t>What the dataset is used for, such as research, data visualization, or training machine learning models </a:t>
            </a:r>
            <a:endParaRPr sz="2400" lang="en-IN">
              <a:solidFill>
                <a:srgbClr val="000000"/>
              </a:solidFill>
            </a:endParaRPr>
          </a:p>
          <a:p>
            <a:r>
              <a:rPr sz="2800" lang="en-US">
                <a:solidFill>
                  <a:srgbClr val="000000"/>
                </a:solidFill>
              </a:rPr>
              <a:t> </a:t>
            </a:r>
            <a:endParaRPr sz="2400" lang="en-IN">
              <a:solidFill>
                <a:srgbClr val="000000"/>
              </a:solidFill>
            </a:endParaRPr>
          </a:p>
          <a:p>
            <a:r>
              <a:rPr sz="2800" lang="en-US">
                <a:solidFill>
                  <a:srgbClr val="000000"/>
                </a:solidFill>
              </a:rPr>
              <a:t>Content</a:t>
            </a:r>
            <a:endParaRPr sz="2400" lang="en-IN">
              <a:solidFill>
                <a:srgbClr val="000000"/>
              </a:solidFill>
            </a:endParaRPr>
          </a:p>
          <a:p>
            <a:r>
              <a:rPr sz="2800" lang="en-US">
                <a:solidFill>
                  <a:srgbClr val="000000"/>
                </a:solidFill>
              </a:rPr>
              <a:t>What the dataset contains, such as numerical values, text, images, or audio recordings </a:t>
            </a:r>
            <a:endParaRPr sz="2400" lang="en-IN">
              <a:solidFill>
                <a:srgbClr val="000000"/>
              </a:solidFill>
            </a:endParaRPr>
          </a:p>
          <a:p>
            <a:r>
              <a:rPr sz="2800" lang="en-US">
                <a:solidFill>
                  <a:srgbClr val="000000"/>
                </a:solidFill>
              </a:rPr>
              <a:t> </a:t>
            </a:r>
            <a:endParaRPr sz="2400" lang="en-IN">
              <a:solidFill>
                <a:srgbClr val="000000"/>
              </a:solidFill>
            </a:endParaRPr>
          </a:p>
          <a:p>
            <a:r>
              <a:rPr sz="2800" lang="en-US">
                <a:solidFill>
                  <a:srgbClr val="000000"/>
                </a:solidFill>
              </a:rPr>
              <a:t>Format</a:t>
            </a:r>
            <a:endParaRPr sz="2400" lang="en-IN">
              <a:solidFill>
                <a:srgbClr val="000000"/>
              </a:solidFill>
            </a:endParaRPr>
          </a:p>
          <a:p>
            <a:r>
              <a:rPr sz="2800" lang="en-US">
                <a:solidFill>
                  <a:srgbClr val="000000"/>
                </a:solidFill>
              </a:rPr>
              <a:t>How the dataset is organized, such as a table, CSV file, or proprietary format </a:t>
            </a:r>
            <a:endParaRPr sz="2400" lang="en-IN">
              <a:solidFill>
                <a:srgbClr val="000000"/>
              </a:solidFill>
            </a:endParaRPr>
          </a:p>
          <a:p>
            <a:r>
              <a:rPr sz="2800" lang="en-US">
                <a:solidFill>
                  <a:srgbClr val="000000"/>
                </a:solidFill>
              </a:rPr>
              <a:t> </a:t>
            </a:r>
            <a:endParaRPr sz="2400" lang="en-IN">
              <a:solidFill>
                <a:srgbClr val="000000"/>
              </a:solidFill>
            </a:endParaRPr>
          </a:p>
          <a:p>
            <a:r>
              <a:rPr sz="2800" lang="en-US">
                <a:solidFill>
                  <a:srgbClr val="000000"/>
                </a:solidFill>
              </a:rPr>
              <a:t>Documentation</a:t>
            </a:r>
            <a:endParaRPr sz="2400" lang="en-IN">
              <a:solidFill>
                <a:srgbClr val="000000"/>
              </a:solidFill>
            </a:endParaRPr>
          </a:p>
          <a:p>
            <a:r>
              <a:rPr sz="2800" lang="en-US">
                <a:solidFill>
                  <a:srgbClr val="000000"/>
                </a:solidFill>
              </a:rPr>
              <a:t>Links to more detailed documentation </a:t>
            </a:r>
            <a:endParaRPr sz="2400" lang="en-IN">
              <a:solidFill>
                <a:srgbClr val="000000"/>
              </a:solidFill>
            </a:endParaRPr>
          </a:p>
          <a:p>
            <a:endParaRPr sz="2800" lang="en-IN">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609"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10"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11"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12"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4" name="object 6"/>
          <p:cNvPicPr>
            <a:picLocks/>
          </p:cNvPicPr>
          <p:nvPr/>
        </p:nvPicPr>
        <p:blipFill>
          <a:blip xmlns:r="http://schemas.openxmlformats.org/officeDocument/2006/relationships" r:embed="rId1" cstate="print"/>
          <a:stretch>
            <a:fillRect/>
          </a:stretch>
        </p:blipFill>
        <p:spPr>
          <a:xfrm>
            <a:off x="66675" y="3381373"/>
            <a:ext cx="2466975" cy="3419475"/>
          </a:xfrm>
          <a:prstGeom prst="rect"/>
        </p:spPr>
      </p:pic>
      <p:sp>
        <p:nvSpPr>
          <p:cNvPr id="1048613" name="object 7"/>
          <p:cNvSpPr txBox="1">
            <a:spLocks noGrp="1"/>
          </p:cNvSpPr>
          <p:nvPr>
            <p:ph type="title"/>
          </p:nvPr>
        </p:nvSpPr>
        <p:spPr>
          <a:xfrm>
            <a:off x="739775" y="654938"/>
            <a:ext cx="8480425" cy="537210"/>
          </a:xfrm>
          <a:prstGeom prst="rect"/>
        </p:spPr>
        <p:txBody>
          <a:bodyPr bIns="0" lIns="0" rIns="0" rtlCol="0" tIns="16510" vert="horz" wrap="square">
            <a:spAutoFit/>
          </a:bodyPr>
          <a:p>
            <a:pPr marL="12700">
              <a:lnSpc>
                <a:spcPct val="100000"/>
              </a:lnSpc>
              <a:spcBef>
                <a:spcPts val="130"/>
              </a:spcBef>
            </a:pPr>
            <a:r>
              <a:rPr dirty="0" sz="4250" spc="15"/>
              <a:t>THE</a:t>
            </a:r>
            <a:r>
              <a:rPr dirty="0" sz="4250" spc="20"/>
              <a:t> </a:t>
            </a:r>
            <a:r>
              <a:rPr dirty="0" sz="4250" lang="en-US" spc="20"/>
              <a:t>"</a:t>
            </a:r>
            <a:r>
              <a:rPr dirty="0" sz="4250" spc="10"/>
              <a:t>WOW</a:t>
            </a:r>
            <a:r>
              <a:rPr dirty="0" sz="4250" lang="en-US" spc="10"/>
              <a:t>"</a:t>
            </a:r>
            <a:r>
              <a:rPr dirty="0" sz="4250" spc="85"/>
              <a:t> </a:t>
            </a:r>
            <a:r>
              <a:rPr dirty="0" sz="4250" spc="10"/>
              <a:t>IN</a:t>
            </a:r>
            <a:r>
              <a:rPr dirty="0" sz="4250" spc="-5"/>
              <a:t> </a:t>
            </a:r>
            <a:r>
              <a:rPr dirty="0" sz="4250" spc="15"/>
              <a:t>OUR</a:t>
            </a:r>
            <a:r>
              <a:rPr dirty="0" sz="4250" spc="-10"/>
              <a:t> </a:t>
            </a:r>
            <a:r>
              <a:rPr dirty="0" sz="4250" spc="20"/>
              <a:t>SOLUTION</a:t>
            </a:r>
            <a:endParaRPr dirty="0" sz="4250"/>
          </a:p>
        </p:txBody>
      </p:sp>
      <p:sp>
        <p:nvSpPr>
          <p:cNvPr id="1048614" name="object 8"/>
          <p:cNvSpPr txBox="1"/>
          <p:nvPr/>
        </p:nvSpPr>
        <p:spPr>
          <a:xfrm>
            <a:off x="11277218" y="6473337"/>
            <a:ext cx="228600"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9</a:t>
            </a:fld>
            <a:endParaRPr sz="1100">
              <a:latin typeface="Trebuchet MS"/>
              <a:cs typeface="Trebuchet MS"/>
            </a:endParaRPr>
          </a:p>
        </p:txBody>
      </p:sp>
      <p:sp>
        <p:nvSpPr>
          <p:cNvPr id="1048615" name="TextBox 8"/>
          <p:cNvSpPr txBox="1"/>
          <p:nvPr/>
        </p:nvSpPr>
        <p:spPr>
          <a:xfrm>
            <a:off x="2743200" y="2354703"/>
            <a:ext cx="8534018" cy="802640"/>
          </a:xfrm>
          <a:prstGeom prst="rect"/>
          <a:noFill/>
        </p:spPr>
        <p:txBody>
          <a:bodyPr rtlCol="0" wrap="square">
            <a:spAutoFit/>
          </a:bodyPr>
          <a:p>
            <a:pPr algn="l">
              <a:buFont typeface="Arial" panose="020B0604020202020204" pitchFamily="34" charset="0"/>
              <a:buChar char="•"/>
            </a:pP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
        <p:nvSpPr>
          <p:cNvPr id="1048616" name=""/>
          <p:cNvSpPr txBox="1"/>
          <p:nvPr/>
        </p:nvSpPr>
        <p:spPr>
          <a:xfrm>
            <a:off x="2351818" y="1192147"/>
            <a:ext cx="8045954" cy="5781040"/>
          </a:xfrm>
          <a:prstGeom prst="rect"/>
        </p:spPr>
        <p:txBody>
          <a:bodyPr rtlCol="0" wrap="square">
            <a:spAutoFit/>
          </a:bodyPr>
          <a:p>
            <a:r>
              <a:rPr sz="3600" lang="en-US">
                <a:solidFill>
                  <a:srgbClr val="000000"/>
                </a:solidFill>
              </a:rPr>
              <a:t>The "wow" in a solution can refer to a "wow experience" or "wow factor", which is an experience that exceeds a customer's expectations and leaves them feeling amazed: </a:t>
            </a:r>
            <a:endParaRPr sz="4000" lang="en-IN">
              <a:solidFill>
                <a:srgbClr val="000000"/>
              </a:solidFill>
            </a:endParaRPr>
          </a:p>
          <a:p>
            <a:r>
              <a:rPr sz="3600" lang="en-US">
                <a:solidFill>
                  <a:srgbClr val="000000"/>
                </a:solidFill>
              </a:rPr>
              <a:t> </a:t>
            </a:r>
            <a:endParaRPr sz="4000" lang="en-IN">
              <a:solidFill>
                <a:srgbClr val="000000"/>
              </a:solidFill>
            </a:endParaRPr>
          </a:p>
          <a:p>
            <a:r>
              <a:rPr sz="3600" lang="en-US">
                <a:solidFill>
                  <a:srgbClr val="000000"/>
                </a:solidFill>
              </a:rPr>
              <a:t>Wow experience</a:t>
            </a:r>
            <a:endParaRPr sz="4000" lang="en-IN">
              <a:solidFill>
                <a:srgbClr val="000000"/>
              </a:solidFill>
            </a:endParaRPr>
          </a:p>
          <a:p>
            <a:r>
              <a:rPr sz="3600" lang="en-US">
                <a:solidFill>
                  <a:srgbClr val="000000"/>
                </a:solidFill>
              </a:rPr>
              <a:t>A customer may have a wow experience when they receive great help, are satisfied with the result, or feel amazed by the success of a product or service. </a:t>
            </a:r>
            <a:endParaRPr sz="4000" lang="en-IN">
              <a:solidFill>
                <a:srgbClr val="000000"/>
              </a:solidFill>
            </a:endParaRPr>
          </a:p>
          <a:p>
            <a:r>
              <a:rPr sz="3600" lang="en-US">
                <a:solidFill>
                  <a:srgbClr val="000000"/>
                </a:solidFill>
              </a:rPr>
              <a:t> </a:t>
            </a:r>
            <a:endParaRPr sz="4000" lang="en-IN">
              <a:solidFill>
                <a:srgbClr val="000000"/>
              </a:solidFill>
            </a:endParaRPr>
          </a:p>
          <a:p>
            <a:r>
              <a:rPr sz="3600" lang="en-US">
                <a:solidFill>
                  <a:srgbClr val="000000"/>
                </a:solidFill>
              </a:rPr>
              <a:t>Wow factor</a:t>
            </a:r>
            <a:endParaRPr sz="4000" lang="en-IN">
              <a:solidFill>
                <a:srgbClr val="000000"/>
              </a:solidFill>
            </a:endParaRPr>
          </a:p>
          <a:p>
            <a:r>
              <a:rPr sz="3600" lang="en-US">
                <a:solidFill>
                  <a:srgbClr val="000000"/>
                </a:solidFill>
              </a:rPr>
              <a:t>A wow factor is a feature that improves a user's daily workflow in a way they might not have expected. </a:t>
            </a:r>
            <a:endParaRPr sz="4000" lang="en-IN">
              <a:solidFill>
                <a:srgbClr val="000000"/>
              </a:solidFill>
            </a:endParaRPr>
          </a:p>
          <a:p>
            <a:endParaRPr sz="2800" lang="en-IN">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sp>
        <p:nvSpPr>
          <p:cNvPr id="1048596"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2"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597" name="object 9"/>
          <p:cNvSpPr txBox="1"/>
          <p:nvPr/>
        </p:nvSpPr>
        <p:spPr>
          <a:xfrm>
            <a:off x="11277218" y="6473337"/>
            <a:ext cx="228600"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10</a:t>
            </a:fld>
            <a:endParaRPr sz="1100">
              <a:latin typeface="Trebuchet MS"/>
              <a:cs typeface="Trebuchet MS"/>
            </a:endParaRPr>
          </a:p>
        </p:txBody>
      </p:sp>
      <p:sp>
        <p:nvSpPr>
          <p:cNvPr id="1048598" name="object 8"/>
          <p:cNvSpPr txBox="1"/>
          <p:nvPr/>
        </p:nvSpPr>
        <p:spPr>
          <a:xfrm>
            <a:off x="739775" y="291147"/>
            <a:ext cx="3303904" cy="622935"/>
          </a:xfrm>
          <a:prstGeom prst="rect"/>
        </p:spPr>
        <p:txBody>
          <a:bodyPr bIns="0" lIns="0" rIns="0" rtlCol="0" tIns="13335" vert="horz" wrap="square">
            <a:spAutoFit/>
          </a:bodyPr>
          <a:p>
            <a:pPr marL="12700">
              <a:lnSpc>
                <a:spcPct val="100000"/>
              </a:lnSpc>
              <a:spcBef>
                <a:spcPts val="105"/>
              </a:spcBef>
            </a:pPr>
            <a:r>
              <a:rPr b="1" dirty="0" sz="4800" spc="15">
                <a:latin typeface="Trebuchet MS"/>
                <a:cs typeface="Trebuchet MS"/>
              </a:rPr>
              <a:t>M</a:t>
            </a:r>
            <a:r>
              <a:rPr b="1" dirty="0" sz="4800">
                <a:latin typeface="Trebuchet MS"/>
                <a:cs typeface="Trebuchet MS"/>
              </a:rPr>
              <a:t>O</a:t>
            </a:r>
            <a:r>
              <a:rPr b="1" dirty="0" sz="4800" spc="-15">
                <a:latin typeface="Trebuchet MS"/>
                <a:cs typeface="Trebuchet MS"/>
              </a:rPr>
              <a:t>D</a:t>
            </a:r>
            <a:r>
              <a:rPr b="1" dirty="0" sz="4800" spc="-35">
                <a:latin typeface="Trebuchet MS"/>
                <a:cs typeface="Trebuchet MS"/>
              </a:rPr>
              <a:t>E</a:t>
            </a:r>
            <a:r>
              <a:rPr b="1" dirty="0" sz="4800" spc="-30">
                <a:latin typeface="Trebuchet MS"/>
                <a:cs typeface="Trebuchet MS"/>
              </a:rPr>
              <a:t>LL</a:t>
            </a:r>
            <a:r>
              <a:rPr b="1" dirty="0" sz="4800" spc="-5">
                <a:latin typeface="Trebuchet MS"/>
                <a:cs typeface="Trebuchet MS"/>
              </a:rPr>
              <a:t>I</a:t>
            </a:r>
            <a:r>
              <a:rPr b="1" dirty="0" sz="4800" spc="30">
                <a:latin typeface="Trebuchet MS"/>
                <a:cs typeface="Trebuchet MS"/>
              </a:rPr>
              <a:t>N</a:t>
            </a:r>
            <a:r>
              <a:rPr b="1" dirty="0" sz="4800" spc="5">
                <a:latin typeface="Trebuchet MS"/>
                <a:cs typeface="Trebuchet MS"/>
              </a:rPr>
              <a:t>G</a:t>
            </a:r>
            <a:endParaRPr dirty="0" sz="4800">
              <a:latin typeface="Trebuchet MS"/>
              <a:cs typeface="Trebuchet MS"/>
            </a:endParaRPr>
          </a:p>
        </p:txBody>
      </p:sp>
      <p:sp>
        <p:nvSpPr>
          <p:cNvPr id="1048599" name="object 3"/>
          <p:cNvSpPr/>
          <p:nvPr/>
        </p:nvSpPr>
        <p:spPr>
          <a:xfrm>
            <a:off x="10058400" y="525141"/>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709" name=""/>
          <p:cNvSpPr txBox="1"/>
          <p:nvPr/>
        </p:nvSpPr>
        <p:spPr>
          <a:xfrm>
            <a:off x="496790" y="1859279"/>
            <a:ext cx="8947247" cy="3837940"/>
          </a:xfrm>
          <a:prstGeom prst="rect"/>
        </p:spPr>
        <p:txBody>
          <a:bodyPr rtlCol="0" wrap="square">
            <a:spAutoFit/>
          </a:bodyPr>
          <a:p>
            <a:r>
              <a:rPr sz="6000" lang="en-US">
                <a:solidFill>
                  <a:srgbClr val="000000"/>
                </a:solidFill>
              </a:rPr>
              <a:t>1</a:t>
            </a:r>
            <a:r>
              <a:rPr sz="6000" lang="en-US">
                <a:solidFill>
                  <a:srgbClr val="000000"/>
                </a:solidFill>
              </a:rPr>
              <a:t>.</a:t>
            </a:r>
            <a:r>
              <a:rPr sz="6000" lang="en-US">
                <a:solidFill>
                  <a:srgbClr val="000000"/>
                </a:solidFill>
              </a:rPr>
              <a:t> </a:t>
            </a:r>
            <a:r>
              <a:rPr sz="6000" lang="en-US">
                <a:solidFill>
                  <a:srgbClr val="000000"/>
                </a:solidFill>
              </a:rPr>
              <a:t>to make something/your self similar to something/somebody else.</a:t>
            </a:r>
            <a:endParaRPr sz="5400" lang="en-IN">
              <a:solidFill>
                <a:srgbClr val="000000"/>
              </a:solidFill>
            </a:endParaRPr>
          </a:p>
          <a:p>
            <a:r>
              <a:rPr sz="6000" lang="en-US">
                <a:solidFill>
                  <a:srgbClr val="000000"/>
                </a:solidFill>
              </a:rPr>
              <a:t>2</a:t>
            </a:r>
            <a:r>
              <a:rPr sz="6000" lang="en-US">
                <a:solidFill>
                  <a:srgbClr val="000000"/>
                </a:solidFill>
              </a:rPr>
              <a:t>.</a:t>
            </a:r>
            <a:r>
              <a:rPr sz="6000" lang="en-US">
                <a:solidFill>
                  <a:srgbClr val="000000"/>
                </a:solidFill>
              </a:rPr>
              <a:t> </a:t>
            </a:r>
            <a:r>
              <a:rPr sz="6000" lang="en-US">
                <a:solidFill>
                  <a:srgbClr val="000000"/>
                </a:solidFill>
              </a:rPr>
              <a:t>to wear and show clothes at a fashion show or for photographs.</a:t>
            </a:r>
            <a:endParaRPr sz="5400" lang="en-IN">
              <a:solidFill>
                <a:srgbClr val="000000"/>
              </a:solidFill>
            </a:endParaRPr>
          </a:p>
          <a:p>
            <a:r>
              <a:rPr sz="6000" lang="en-US">
                <a:solidFill>
                  <a:srgbClr val="000000"/>
                </a:solidFill>
              </a:rPr>
              <a:t>3</a:t>
            </a:r>
            <a:r>
              <a:rPr sz="6000" lang="en-US">
                <a:solidFill>
                  <a:srgbClr val="000000"/>
                </a:solidFill>
              </a:rPr>
              <a:t>.</a:t>
            </a:r>
            <a:r>
              <a:rPr sz="6000" lang="en-US">
                <a:solidFill>
                  <a:srgbClr val="000000"/>
                </a:solidFill>
              </a:rPr>
              <a:t> </a:t>
            </a:r>
            <a:r>
              <a:rPr sz="6000" lang="en-US">
                <a:solidFill>
                  <a:srgbClr val="000000"/>
                </a:solidFill>
              </a:rPr>
              <a:t>to make a model of something</a:t>
            </a:r>
            <a:endParaRPr sz="2800" lang="en-IN">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604"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05"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06"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3"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07" name="object 7"/>
          <p:cNvSpPr txBox="1">
            <a:spLocks noGrp="1"/>
          </p:cNvSpPr>
          <p:nvPr>
            <p:ph type="title"/>
          </p:nvPr>
        </p:nvSpPr>
        <p:spPr>
          <a:xfrm>
            <a:off x="755332" y="385444"/>
            <a:ext cx="2437130" cy="622936"/>
          </a:xfrm>
          <a:prstGeom prst="rect"/>
        </p:spPr>
        <p:txBody>
          <a:bodyPr bIns="0" lIns="0" rIns="0" rtlCol="0" tIns="13335" vert="horz" wrap="square">
            <a:spAutoFit/>
          </a:bodyPr>
          <a:p>
            <a:pPr marL="12700">
              <a:lnSpc>
                <a:spcPct val="100000"/>
              </a:lnSpc>
              <a:spcBef>
                <a:spcPts val="105"/>
              </a:spcBef>
            </a:pPr>
            <a:r>
              <a:rPr dirty="0"/>
              <a:t>R</a:t>
            </a:r>
            <a:r>
              <a:rPr dirty="0" spc="-40"/>
              <a:t>E</a:t>
            </a:r>
            <a:r>
              <a:rPr dirty="0" spc="15"/>
              <a:t>S</a:t>
            </a:r>
            <a:r>
              <a:rPr dirty="0" spc="-30"/>
              <a:t>U</a:t>
            </a:r>
            <a:r>
              <a:rPr dirty="0" spc="-405"/>
              <a:t>L</a:t>
            </a:r>
            <a:r>
              <a:rPr dirty="0"/>
              <a:t>TS</a:t>
            </a:r>
          </a:p>
        </p:txBody>
      </p:sp>
      <p:sp>
        <p:nvSpPr>
          <p:cNvPr id="1048608" name="object 9"/>
          <p:cNvSpPr txBox="1"/>
          <p:nvPr/>
        </p:nvSpPr>
        <p:spPr>
          <a:xfrm>
            <a:off x="11277218" y="6473337"/>
            <a:ext cx="228600"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11</a:t>
            </a:fld>
            <a:endParaRPr sz="1100">
              <a:latin typeface="Trebuchet MS"/>
              <a:cs typeface="Trebuchet MS"/>
            </a:endParaRPr>
          </a:p>
        </p:txBody>
      </p:sp>
      <p:sp>
        <p:nvSpPr>
          <p:cNvPr id="1048710" name=""/>
          <p:cNvSpPr txBox="1"/>
          <p:nvPr/>
        </p:nvSpPr>
        <p:spPr>
          <a:xfrm>
            <a:off x="755331" y="1695449"/>
            <a:ext cx="8161858" cy="3241040"/>
          </a:xfrm>
          <a:prstGeom prst="rect"/>
        </p:spPr>
        <p:txBody>
          <a:bodyPr rtlCol="0" wrap="square">
            <a:spAutoFit/>
          </a:bodyPr>
          <a:p>
            <a:r>
              <a:rPr sz="4400" lang="en-US">
                <a:solidFill>
                  <a:srgbClr val="000000"/>
                </a:solidFill>
              </a:rPr>
              <a:t>Project results are the measurable outcomes of a project, which can be tangible or intangible. They are important for assessing a project's success, demonstrating its impact, and guiding future initiatives. </a:t>
            </a:r>
            <a:endParaRPr sz="4800" lang="en-IN">
              <a:solidFill>
                <a:srgbClr val="000000"/>
              </a:solidFill>
            </a:endParaRPr>
          </a:p>
          <a:p>
            <a:endParaRPr sz="2800" lang="en-IN">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617" name="Title 1"/>
          <p:cNvSpPr>
            <a:spLocks noGrp="1"/>
          </p:cNvSpPr>
          <p:nvPr>
            <p:ph type="title"/>
          </p:nvPr>
        </p:nvSpPr>
        <p:spPr>
          <a:xfrm>
            <a:off x="755332" y="385444"/>
            <a:ext cx="10681335" cy="609601"/>
          </a:xfrm>
        </p:spPr>
        <p:txBody>
          <a:bodyPr/>
          <a:p>
            <a:r>
              <a:rPr dirty="0" lang="en-US">
                <a:latin typeface="Times New Roman" panose="02020603050405020304" pitchFamily="18" charset="0"/>
                <a:cs typeface="Times New Roman" panose="02020603050405020304" pitchFamily="18" charset="0"/>
              </a:rPr>
              <a:t>conclusion</a:t>
            </a:r>
            <a:endParaRPr dirty="0" lang="en-IN">
              <a:latin typeface="Times New Roman" panose="02020603050405020304" pitchFamily="18" charset="0"/>
              <a:cs typeface="Times New Roman" panose="02020603050405020304" pitchFamily="18" charset="0"/>
            </a:endParaRPr>
          </a:p>
        </p:txBody>
      </p:sp>
      <p:sp>
        <p:nvSpPr>
          <p:cNvPr id="1048711" name=""/>
          <p:cNvSpPr txBox="1"/>
          <p:nvPr/>
        </p:nvSpPr>
        <p:spPr>
          <a:xfrm>
            <a:off x="755331" y="1249679"/>
            <a:ext cx="8411442" cy="4358641"/>
          </a:xfrm>
          <a:prstGeom prst="rect"/>
        </p:spPr>
        <p:txBody>
          <a:bodyPr rtlCol="0" wrap="square">
            <a:spAutoFit/>
          </a:bodyPr>
          <a:p>
            <a:r>
              <a:rPr sz="4800" lang="en-US">
                <a:solidFill>
                  <a:srgbClr val="000000"/>
                </a:solidFill>
              </a:rPr>
              <a:t>A conclusion is the final piece of writing in a research paper, essay, or article that summarizes the entire work. The conclusion paragraph should restate your thesis, summarize the key supporting ideas you discussed throughout the work, and offer your final impression on the central idea.</a:t>
            </a:r>
            <a:endParaRPr sz="2800" lang="en-IN">
              <a:solidFill>
                <a:srgbClr val="0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  </dc:title>
  <dc:creator>Konduru Narasimha</dc:creator>
  <cp:lastModifiedBy>Channabasava Yadav</cp:lastModifiedBy>
  <dcterms:created xsi:type="dcterms:W3CDTF">2024-03-28T17:07:22Z</dcterms:created>
  <dcterms:modified xsi:type="dcterms:W3CDTF">2024-09-10T05:48:34Z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y fmtid="{D5CDD505-2E9C-101B-9397-08002B2CF9AE}" pid="4" name="ICV">
    <vt:lpwstr>5a66f025510a4b3a9ad1cd4dbc11bb7b</vt:lpwstr>
  </property>
</Properties>
</file>